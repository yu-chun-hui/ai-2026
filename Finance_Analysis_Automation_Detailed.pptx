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74" r:id="rId14"/>
    <p:sldId id="267" r:id="rId15"/>
    <p:sldId id="268" r:id="rId16"/>
    <p:sldId id="269" r:id="rId17"/>
    <p:sldId id="270" r:id="rId18"/>
    <p:sldId id="271" r:id="rId19"/>
    <p:sldId id="276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6"/>
  </p:normalViewPr>
  <p:slideViewPr>
    <p:cSldViewPr snapToGrid="0" snapToObjects="1">
      <p:cViewPr varScale="1">
        <p:scale>
          <a:sx n="112" d="100"/>
          <a:sy n="112" d="100"/>
        </p:scale>
        <p:origin x="60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B7A31-09FF-004F-BA3C-8B1B3CA9DE6C}" type="datetimeFigureOut">
              <a:rPr kumimoji="1" lang="zh-CN" altLang="en-US" smtClean="0"/>
              <a:t>2026/6/29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B92A9-6831-6C46-9117-03B18C699F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5443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B92A9-6831-6C46-9117-03B18C699FD2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4881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" y="1874519"/>
            <a:ext cx="804672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800" b="1">
                <a:solidFill>
                  <a:srgbClr val="F5F8FF"/>
                </a:solidFill>
                <a:latin typeface="Microsoft YaHei"/>
              </a:defRPr>
            </a:pPr>
            <a:r>
              <a:t>财务分析自动化系统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2606040"/>
            <a:ext cx="80467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50E6FF"/>
                </a:solidFill>
                <a:latin typeface="Microsoft YaHei"/>
              </a:defRPr>
            </a:pPr>
            <a:r>
              <a:t>AI驱动的多模态财务文档解析、分析与报告生成平台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3246120"/>
            <a:ext cx="777240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0">
                <a:solidFill>
                  <a:srgbClr val="AFCDEB"/>
                </a:solidFill>
                <a:latin typeface="Microsoft YaHei"/>
              </a:defRPr>
            </a:pPr>
            <a:r>
              <a:t>基于 FastAPI + React + AutoGen + 多模型调度</a:t>
            </a:r>
            <a:br/>
            <a:r>
              <a:t>覆盖图像 / PDF / Word，支持流式分析与PDF导出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1828800"/>
            <a:ext cx="2514600" cy="53035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01000" y="1828800"/>
            <a:ext cx="73152" cy="530352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65592" y="1938528"/>
            <a:ext cx="2240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Qwen3-VL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01000" y="2606040"/>
            <a:ext cx="2514600" cy="53035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001000" y="2606040"/>
            <a:ext cx="73152" cy="530352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65592" y="2715768"/>
            <a:ext cx="2240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DeepSeek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1000" y="3383280"/>
            <a:ext cx="2514600" cy="53035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01000" y="3383280"/>
            <a:ext cx="73152" cy="53035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65592" y="3493008"/>
            <a:ext cx="22402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ICA Gateway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5989320"/>
            <a:ext cx="43891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8CAAD2"/>
                </a:solidFill>
                <a:latin typeface="Microsoft YaHei"/>
              </a:defRPr>
            </a:pPr>
            <a:r>
              <a:t>Design Document v1.1.0 · 2026-06-18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FA1DAED-CE64-A9D3-6188-8FFE9C089019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Overview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1. 项目定位与核心价值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从“人工读报表”升级为“AI自动解析、分析、生成报告”的闭环平台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737360"/>
            <a:ext cx="347472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1520" y="1737360"/>
            <a:ext cx="73152" cy="182880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184708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项目简介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2267712"/>
            <a:ext cx="3154679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自动识别与解析多种财务文档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图像 / PDF / Word 全格式覆盖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结合上下文与需求生成专业分析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面向报表、审计、经营说明等场景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1737360"/>
            <a:ext cx="347472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34840" y="1737360"/>
            <a:ext cx="73152" cy="18288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99431" y="184708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核心价值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2267712"/>
            <a:ext cx="3154679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智能分析：大模型 + 多模态能力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多格式支持：图像 / PDF / Word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流式输出：实时展示分析过程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专业报告：Markdown + PDF 导出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灵活配置：自定义上下文与需求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1737360"/>
            <a:ext cx="329184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38160" y="1737360"/>
            <a:ext cx="73152" cy="18288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02752" y="1847088"/>
            <a:ext cx="30175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体验能力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267712"/>
            <a:ext cx="2971800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流式输出，降低等待感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摘要查看与详细分析切换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思维导图视图辅助理解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可扩展到 Excel / CSV / 批量文件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4069080"/>
            <a:ext cx="10698480" cy="13716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" y="4069080"/>
            <a:ext cx="73152" cy="137160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6112" y="4178808"/>
            <a:ext cx="1042415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一句话总结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599432"/>
            <a:ext cx="1037844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0">
                <a:solidFill>
                  <a:srgbClr val="AFCDEB"/>
                </a:solidFill>
                <a:latin typeface="Microsoft YaHei"/>
              </a:defRPr>
            </a:pPr>
            <a:r>
              <a:t>该系统不是单点 OCR 工具，而是以多模型调度、流式处理与报告生成为核心的企业级财务分析自动化平台，覆盖“识别 → 分析 → 报告”的完整闭环。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FE33CAE-16E6-CC08-88CD-6A9C473C2610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430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24003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Business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2. 业务痛点与解决方案映射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将设计文档中的能力映射到具体业务问题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840230"/>
            <a:ext cx="4572000" cy="749808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828800"/>
            <a:ext cx="73152" cy="749808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949958"/>
            <a:ext cx="4297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多格式难统一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370582"/>
            <a:ext cx="4251960" cy="15544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50" b="0">
                <a:solidFill>
                  <a:srgbClr val="AFCDEB"/>
                </a:solidFill>
                <a:latin typeface="Microsoft YaHei"/>
              </a:defRPr>
            </a:pPr>
            <a:r>
              <a:t>财务材料可能是图片、PDF、Word，人工处理流程割裂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2864358"/>
            <a:ext cx="4572000" cy="749808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85800" y="2852928"/>
            <a:ext cx="73152" cy="74980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0392" y="2974086"/>
            <a:ext cx="4297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分析口径不一致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3394710"/>
            <a:ext cx="4251960" cy="15544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50" b="0">
                <a:solidFill>
                  <a:srgbClr val="AFCDEB"/>
                </a:solidFill>
                <a:latin typeface="Microsoft YaHei"/>
              </a:defRPr>
            </a:pPr>
            <a:r>
              <a:t>不同人员分析重点、格式、风险判断标准不统一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3888486"/>
            <a:ext cx="4572000" cy="749808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85800" y="3877056"/>
            <a:ext cx="73152" cy="74980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0392" y="3998214"/>
            <a:ext cx="4297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报告产出慢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4418838"/>
            <a:ext cx="4251960" cy="15544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50" b="0">
                <a:solidFill>
                  <a:srgbClr val="AFCDEB"/>
                </a:solidFill>
                <a:latin typeface="Microsoft YaHei"/>
              </a:defRPr>
            </a:pPr>
            <a:r>
              <a:t>分析后还需要人工二次整理、排版、导出PDF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4912614"/>
            <a:ext cx="4572000" cy="749808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85800" y="4901184"/>
            <a:ext cx="73152" cy="74980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0392" y="5022342"/>
            <a:ext cx="4297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大文件/长分析体验差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5442966"/>
            <a:ext cx="4251960" cy="15544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50" b="0">
                <a:solidFill>
                  <a:srgbClr val="AFCDEB"/>
                </a:solidFill>
                <a:latin typeface="Microsoft YaHei"/>
              </a:defRPr>
            </a:pPr>
            <a:r>
              <a:t>传统请求等待时间长，用户无法看到实时进度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03720" y="1863090"/>
            <a:ext cx="4572000" cy="749808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903720" y="1805940"/>
            <a:ext cx="73152" cy="749808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68312" y="1972818"/>
            <a:ext cx="4297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rPr dirty="0" err="1"/>
              <a:t>文件类型自动识别</a:t>
            </a:r>
            <a:endParaRPr dirty="0"/>
          </a:p>
        </p:txBody>
      </p:sp>
      <p:sp>
        <p:nvSpPr>
          <p:cNvPr id="59" name="TextBox 58"/>
          <p:cNvSpPr txBox="1"/>
          <p:nvPr/>
        </p:nvSpPr>
        <p:spPr>
          <a:xfrm>
            <a:off x="7086600" y="2393442"/>
            <a:ext cx="4251960" cy="15544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50" b="0">
                <a:solidFill>
                  <a:srgbClr val="AFCDEB"/>
                </a:solidFill>
                <a:latin typeface="Microsoft YaHei"/>
              </a:defRPr>
            </a:pPr>
            <a:r>
              <a:t>按扩展名路由到图像、PDF、DOCX专用处理链路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903720" y="2670048"/>
            <a:ext cx="4572000" cy="749808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903720" y="2704338"/>
            <a:ext cx="73152" cy="74980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068312" y="2996946"/>
            <a:ext cx="4297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统一结构化输出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86600" y="3417570"/>
            <a:ext cx="4251960" cy="15544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50" b="0">
                <a:solidFill>
                  <a:srgbClr val="AFCDEB"/>
                </a:solidFill>
                <a:latin typeface="Microsoft YaHei"/>
              </a:defRPr>
            </a:pPr>
            <a:r>
              <a:t>文档概览、指标分析、趋势比较、风险评估、建议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903720" y="3911346"/>
            <a:ext cx="4572000" cy="749808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903720" y="3911346"/>
            <a:ext cx="73152" cy="74980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068312" y="4021074"/>
            <a:ext cx="4297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Markdown → PDF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86600" y="4441698"/>
            <a:ext cx="4251960" cy="15544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50" b="0">
                <a:solidFill>
                  <a:srgbClr val="AFCDEB"/>
                </a:solidFill>
                <a:latin typeface="Microsoft YaHei"/>
              </a:defRPr>
            </a:pPr>
            <a:r>
              <a:t>ReportLab解析标题、列表、表格、加粗并生成报告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903720" y="4935474"/>
            <a:ext cx="4572000" cy="749808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903720" y="4912614"/>
            <a:ext cx="73152" cy="74980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068312" y="5045202"/>
            <a:ext cx="4297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StreamingResponse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86600" y="5465826"/>
            <a:ext cx="4251960" cy="155447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50" b="0">
                <a:solidFill>
                  <a:srgbClr val="AFCDEB"/>
                </a:solidFill>
                <a:latin typeface="Microsoft YaHei"/>
              </a:defRPr>
            </a:pPr>
            <a:r>
              <a:t>实时返回分析结果，DOCX通过队列解耦保持稳定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" y="1444752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FB040"/>
                </a:solidFill>
                <a:latin typeface="Microsoft YaHei"/>
              </a:defRPr>
            </a:pPr>
            <a:r>
              <a:rPr dirty="0"/>
              <a:t>Pain Points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32320" y="1479042"/>
            <a:ext cx="27432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50E6FF"/>
                </a:solidFill>
                <a:latin typeface="Microsoft YaHei"/>
              </a:defRPr>
            </a:pPr>
            <a:r>
              <a:rPr dirty="0"/>
              <a:t>Solution Design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5394960" y="3051810"/>
            <a:ext cx="1143000" cy="640080"/>
          </a:xfrm>
          <a:prstGeom prst="rightArrow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BCE45831-E9BD-FA72-C89A-3873CE59838F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3. 系统总体架构：分层解耦 + 多模型协同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对应设计文档的 Frontend / Backend / Services / Models / Utils / LLM 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00200"/>
            <a:ext cx="10652760" cy="8686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00200"/>
            <a:ext cx="73152" cy="8686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1832" y="1709928"/>
            <a:ext cx="10378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Microsoft YaHei"/>
              </a:defRPr>
            </a:pPr>
            <a:r>
              <a:t>Frontend · React 18 + MUI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2130552"/>
            <a:ext cx="10332720" cy="2743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UploadArea  |  StreamingOutput  |  FinanceAnalysisDisplay  |  SummaryViewer / MindMapViewer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80760" y="2450592"/>
            <a:ext cx="0" cy="219456"/>
          </a:xfrm>
          <a:prstGeom prst="line">
            <a:avLst/>
          </a:prstGeom>
          <a:ln w="1905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77240" y="2715768"/>
            <a:ext cx="10652760" cy="8686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77240" y="2715768"/>
            <a:ext cx="73152" cy="8686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1832" y="2825496"/>
            <a:ext cx="10378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Microsoft YaHei"/>
              </a:defRPr>
            </a:pPr>
            <a:r>
              <a:t>Backend API · FastAPI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3246120"/>
            <a:ext cx="10332720" cy="2743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finance_analysis.py 核心路由  |  analyze / export / summary / download  |  StreamingResponse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80760" y="3566160"/>
            <a:ext cx="0" cy="219455"/>
          </a:xfrm>
          <a:prstGeom prst="line">
            <a:avLst/>
          </a:prstGeom>
          <a:ln w="1905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77240" y="3831335"/>
            <a:ext cx="10652760" cy="8686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77240" y="3831335"/>
            <a:ext cx="73152" cy="8686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1832" y="3941063"/>
            <a:ext cx="10378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Microsoft YaHei"/>
              </a:defRPr>
            </a:pPr>
            <a:r>
              <a:t>Services Layer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4361688"/>
            <a:ext cx="10332720" cy="2743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ai_service.py AI分析  |  pdf_service.py PDF提取  |  export_pdf.py PDF导出  |  excel/openapi扩展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080760" y="4681728"/>
            <a:ext cx="0" cy="219455"/>
          </a:xfrm>
          <a:prstGeom prst="line">
            <a:avLst/>
          </a:prstGeom>
          <a:ln w="1905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777240" y="4946904"/>
            <a:ext cx="10652760" cy="8686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7240" y="4946904"/>
            <a:ext cx="73152" cy="86868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1832" y="5056632"/>
            <a:ext cx="10378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Microsoft YaHei"/>
              </a:defRPr>
            </a:pPr>
            <a:r>
              <a:t>LLM &amp; Tools Layer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" y="5477256"/>
            <a:ext cx="10332720" cy="2743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AFCDEB"/>
                </a:solidFill>
                <a:latin typeface="Microsoft YaHei"/>
              </a:defRPr>
            </a:pPr>
            <a:r>
              <a:t>Qwen3-VL 图像  |  DeepSeek PDF/文本  |  IBM ICA Word  |  pdfplumber / ReportLab / python-docx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39955EE-86B7-F7DA-5541-6FDB49EC749C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Tech 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4. 技术栈与组件职责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把设计文档里的技术选型拆成可评审的组件地图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737360"/>
            <a:ext cx="3429000" cy="40233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737360"/>
            <a:ext cx="73152" cy="402336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84708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后端技术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267712"/>
            <a:ext cx="3108960" cy="34290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Web 框架：FastAPI（Python 3.12）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AI 引擎：AutoGen AgentChat 0.6.4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扩展：autogen-ext[openai] 0.6.4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配置：python-dotenv 读取 .env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PDF 解析：PyPDF2 + pdfplumber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PDF 生成：ReportLab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文档：python-docx 读取 Word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图像：Pillow（间接引入）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98848" y="1737360"/>
            <a:ext cx="3429000" cy="40233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98848" y="1737360"/>
            <a:ext cx="73152" cy="402336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63440" y="184708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前端技术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1728" y="2267712"/>
            <a:ext cx="3108960" cy="34290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框架：React 18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UI 库：Material-UI (MUI)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图标：@mui/icons-material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HTTP：Axios + Fetch API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构建：Create React App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样式：@emotion/react + styled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流式 Markdown 实时渲染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11896" y="1737360"/>
            <a:ext cx="3429000" cy="40233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311896" y="1737360"/>
            <a:ext cx="73152" cy="40233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76488" y="184708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LLM接入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94776" y="2267712"/>
            <a:ext cx="3108960" cy="34290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OpenAI 兼容接口统一封装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图像：DashScope qwen3-vl-plus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PDF/文本：DeepSeek deepseek-v4-pro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Word：IBM ICA gpt-5.4-gus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model_info 显式声明各模型能力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API Key 全部从 backend/.env 读取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配置集中在 utils/llms.py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5897880"/>
            <a:ext cx="106070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50E6FF"/>
                </a:solidFill>
                <a:latin typeface="Microsoft YaHei"/>
              </a:defRPr>
            </a:pPr>
            <a:r>
              <a:t>设计原则：模型客户端统一封装，业务服务不硬编码 Key；vision / function_calling / json_output 等能力在 model_info 显式声明，面向未来可平滑替换模型与扩展提供商（OpenAI / Claude 等）。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703109C-4AAD-1A54-0EE7-9FC9EF68CE31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Engineering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5. 目录结构与工程边界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通过代码结构体现分层职责和未来可维护性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5303520" cy="4526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73152" cy="45262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709928"/>
            <a:ext cx="5029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Backend 关键目录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130552"/>
            <a:ext cx="4983480" cy="3931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main.py：FastAPI 应用入口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models/finance_report.py：数据模型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routers/finance_analysis.py：核心路由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services/ai_service.py：AI 分析与分发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services/pdf_service.py：PDF 文本提取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services/export_pdf.py：PDF 报告导出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services/excel · openapi：可选扩展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utils/llms.py：LLM 客户端配置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utils/file_utils.py：文件工具</a:t>
            </a:r>
          </a:p>
          <a:p>
            <a:pPr>
              <a:spcAft>
                <a:spcPts val="400"/>
              </a:spcAft>
              <a:defRPr sz="1000">
                <a:solidFill>
                  <a:srgbClr val="AFCDEB"/>
                </a:solidFill>
                <a:latin typeface="Microsoft YaHei"/>
              </a:defRPr>
            </a:pPr>
            <a:r>
              <a:t>• .env / requirements.txt：配置与依赖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1600200"/>
            <a:ext cx="5074920" cy="4526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55080" y="1600200"/>
            <a:ext cx="73152" cy="45262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19672" y="1709928"/>
            <a:ext cx="4800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Frontend 关键组件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2130552"/>
            <a:ext cx="4754880" cy="3931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App.jsx：主应用与 viewMode 切换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UploadArea.jsx：拖拽上传/校验/进度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StreamingOutput.jsx：流式结果渲染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FinanceAnalysisDisplay.jsx：详细/MD 视图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SummaryViewer.jsx：摘要查看器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MindMapViewer.jsx：思维导图视图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services/api.js：API 调用封装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package.json：前端依赖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uploads/：上传文件存储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results/：PDF 报告存储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BFFA7F4-65C5-3CD8-A53D-E9435FC9F5C6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Module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6. 文件上传与预处理模块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多格式输入是系统的入口能力，决定后续模型路由与分析质量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用户上传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8036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类型验证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63347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02920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UUID命名保存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78231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17804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路径返回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93115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326880" y="1828800"/>
            <a:ext cx="1828800" cy="694944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F"/>
                </a:solidFill>
                <a:latin typeface="Microsoft YaHei"/>
              </a:defRPr>
            </a:pPr>
            <a:r>
              <a:t>进入分析链路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079992" y="2176272"/>
            <a:ext cx="173736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77240" y="3063240"/>
            <a:ext cx="3337560" cy="2240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77240" y="3063240"/>
            <a:ext cx="73152" cy="22402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1832" y="31729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支持格式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3593592"/>
            <a:ext cx="3017520" cy="1645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图像：PNG / JPG / JPEG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图像：GIF / BMP / WEBP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PDF：.pdf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Word：.docx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未来扩展：Excel / CSV / TXT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34840" y="3063240"/>
            <a:ext cx="3337560" cy="2240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434840" y="3063240"/>
            <a:ext cx="73152" cy="22402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99431" y="31729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API入口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17720" y="3593592"/>
            <a:ext cx="3017520" cy="1645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POST /api/finance-analysis/analyze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Content-Type：multipart/form-data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file：上传文件（required）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context：分析上下文（required）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requirements：分析需求（required）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返回：text/markdown 流式结果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3063240"/>
            <a:ext cx="3337560" cy="2240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92440" y="3063240"/>
            <a:ext cx="73152" cy="22402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57031" y="31729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设计要点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19" y="3593592"/>
            <a:ext cx="3017520" cy="1645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文件名 UUID 化，避免冲突与遍历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上传目录 uploads/，自动创建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路由位置：finance_analysis.py(26–62)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预留白名单与大小限制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类型验证后进入模型路由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D86F09F-7D62-CA2F-F5D8-6843DBBF12E1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AI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7. AI智能分析模块：按文件类型动态路由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系统不是单模型调用，而是基于输入特征选择最合适的模型链路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645920"/>
            <a:ext cx="2468880" cy="4572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1520" y="1645920"/>
            <a:ext cx="73152" cy="45720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175564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文件类型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83280" y="1645920"/>
            <a:ext cx="2834640" cy="4572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383280" y="1645920"/>
            <a:ext cx="73152" cy="4572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547872" y="175564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模型/提供商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1645920"/>
            <a:ext cx="4937760" cy="4572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00800" y="1645920"/>
            <a:ext cx="73152" cy="4572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65392" y="1755648"/>
            <a:ext cx="4663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2240280"/>
            <a:ext cx="246888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31520" y="2240280"/>
            <a:ext cx="73152" cy="621792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6112" y="235000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图像文件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83280" y="2240280"/>
            <a:ext cx="283464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383280" y="2240280"/>
            <a:ext cx="73152" cy="621792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547872" y="235000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1">
                <a:solidFill>
                  <a:srgbClr val="F5F8FF"/>
                </a:solidFill>
                <a:latin typeface="Microsoft YaHei"/>
              </a:defRPr>
            </a:pPr>
            <a:r>
              <a:t>qwen3-vl-plus / DashScope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2240280"/>
            <a:ext cx="493776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00800" y="2240280"/>
            <a:ext cx="73152" cy="62179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65392" y="2350008"/>
            <a:ext cx="4663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69" b="1">
                <a:solidFill>
                  <a:srgbClr val="F5F8FF"/>
                </a:solidFill>
                <a:latin typeface="Microsoft YaHei"/>
              </a:defRPr>
            </a:pPr>
            <a:r>
              <a:t>Pillow加载 → AutoGen Image → MultiModalMessage → Qwen-VL流式分析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3063240"/>
            <a:ext cx="246888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" y="3063240"/>
            <a:ext cx="73152" cy="621792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6112" y="317296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PDF文档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83280" y="3063240"/>
            <a:ext cx="283464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383280" y="3063240"/>
            <a:ext cx="73152" cy="621792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547872" y="317296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1">
                <a:solidFill>
                  <a:srgbClr val="F5F8FF"/>
                </a:solidFill>
                <a:latin typeface="Microsoft YaHei"/>
              </a:defRPr>
            </a:pPr>
            <a:r>
              <a:t>deepseek-v4-pro / DeepSeek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0" y="3063240"/>
            <a:ext cx="493776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400800" y="3063240"/>
            <a:ext cx="73152" cy="62179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65392" y="3172968"/>
            <a:ext cx="4663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69" b="1">
                <a:solidFill>
                  <a:srgbClr val="F5F8FF"/>
                </a:solidFill>
                <a:latin typeface="Microsoft YaHei"/>
              </a:defRPr>
            </a:pPr>
            <a:r>
              <a:t>pdfplumber提取文本+元数据 → 构建结构化Prompt → DeepSeek分析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3886200"/>
            <a:ext cx="246888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31520" y="3886200"/>
            <a:ext cx="73152" cy="621792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6112" y="399592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Word文档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383280" y="3886200"/>
            <a:ext cx="283464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383280" y="3886200"/>
            <a:ext cx="73152" cy="621792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547872" y="399592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1">
                <a:solidFill>
                  <a:srgbClr val="F5F8FF"/>
                </a:solidFill>
                <a:latin typeface="Microsoft YaHei"/>
              </a:defRPr>
            </a:pPr>
            <a:r>
              <a:t>gpt-5.4-gus / IBM ICA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0" y="3886200"/>
            <a:ext cx="493776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400800" y="3886200"/>
            <a:ext cx="73152" cy="62179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565392" y="3995928"/>
            <a:ext cx="4663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69" b="1">
                <a:solidFill>
                  <a:srgbClr val="F5F8FF"/>
                </a:solidFill>
                <a:latin typeface="Microsoft YaHei"/>
              </a:defRPr>
            </a:pPr>
            <a:r>
              <a:t>python-docx读取段落 → 文本截断8000字符 → ICA Agent + 队列流式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4709160"/>
            <a:ext cx="246888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731520" y="4709160"/>
            <a:ext cx="73152" cy="621792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96112" y="4818888"/>
            <a:ext cx="21945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1">
                <a:solidFill>
                  <a:srgbClr val="F5F8FF"/>
                </a:solidFill>
                <a:latin typeface="Microsoft YaHei"/>
              </a:defRPr>
            </a:pPr>
            <a:r>
              <a:t>其他文本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383280" y="4709160"/>
            <a:ext cx="283464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383280" y="4709160"/>
            <a:ext cx="73152" cy="621792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547872" y="4818888"/>
            <a:ext cx="2560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1">
                <a:solidFill>
                  <a:srgbClr val="F5F8FF"/>
                </a:solidFill>
                <a:latin typeface="Microsoft YaHei"/>
              </a:defRPr>
            </a:pPr>
            <a:r>
              <a:t>deepseek-v4-pro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0" y="4709160"/>
            <a:ext cx="4937760" cy="621792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400800" y="4709160"/>
            <a:ext cx="73152" cy="62179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565392" y="4818888"/>
            <a:ext cx="46634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69" b="1">
                <a:solidFill>
                  <a:srgbClr val="F5F8FF"/>
                </a:solidFill>
                <a:latin typeface="Microsoft YaHei"/>
              </a:defRPr>
            </a:pPr>
            <a:r>
              <a:t>文本读取/编码处理 → 统一Prompt → 文本分析模型输出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1">
                <a:solidFill>
                  <a:srgbClr val="50E6FF"/>
                </a:solidFill>
                <a:latin typeface="Microsoft YaHei"/>
              </a:defRPr>
            </a:pPr>
            <a:r>
              <a:t>核心方法：analyze_finance_report_stream() 作为统一入口，按扩展名分发到 DOCX / 图像 / PDF&amp;文本 分支。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F6A8D033-FC0B-CD8D-7DC9-E5C8F33F0E5F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8. 统一分析输出结构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通过稳定的Markdown结构保障报告可读性和PDF导出的可解析性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874519"/>
            <a:ext cx="73152" cy="283464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文件信息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文件类型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使用模型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处理状态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71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971800" y="1874519"/>
            <a:ext cx="73152" cy="283464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136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文档概览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文档类型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报告期间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编制单位/货币单位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57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257800" y="1874519"/>
            <a:ext cx="73152" cy="283464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22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关键财务指标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收入/利润/成本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资产负债关键项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现金流与比率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3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543800" y="1874519"/>
            <a:ext cx="73152" cy="283464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708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趋势与比较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6679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前期比较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行业标准比较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趋势判断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29800" y="1874519"/>
            <a:ext cx="1965960" cy="28346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29800" y="1874519"/>
            <a:ext cx="73152" cy="283464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94392" y="1984248"/>
            <a:ext cx="169163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风险评估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2404872"/>
            <a:ext cx="1645919" cy="224028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财务风险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经营风险</a:t>
            </a:r>
          </a:p>
          <a:p>
            <a:pPr>
              <a:spcAft>
                <a:spcPts val="400"/>
              </a:spcAft>
              <a:defRPr sz="950">
                <a:solidFill>
                  <a:srgbClr val="AFCDEB"/>
                </a:solidFill>
                <a:latin typeface="Microsoft YaHei"/>
              </a:defRPr>
            </a:pPr>
            <a:r>
              <a:t>• 改进建议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" y="5166360"/>
            <a:ext cx="10332720" cy="7772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400" y="5166360"/>
            <a:ext cx="73152" cy="77724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78992" y="5276088"/>
            <a:ext cx="10058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为什么这很重要？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5696712"/>
            <a:ext cx="10012680" cy="1828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>
                <a:solidFill>
                  <a:srgbClr val="AFCDEB"/>
                </a:solidFill>
                <a:latin typeface="Microsoft YaHei"/>
              </a:defRPr>
            </a:pPr>
            <a:r>
              <a:t>统一输出结构使前端展示、摘要生成、PDF导出、未来Excel导出都可以复用相同语义层。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F421772-F34D-3E98-4174-BEE5BF7F2DAC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Streaming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9. 流式响应机制：体验与稳定性的关键设计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设计文档中的重要工程亮点：AutoGen Streaming + DOCX生产者消费者解耦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91640"/>
            <a:ext cx="3474720" cy="416052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91640"/>
            <a:ext cx="73152" cy="41605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80136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通用路径：图像/PDF/文本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221992"/>
            <a:ext cx="3154679" cy="35661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FastAPI StreamingResponse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AsyncGenerator持续yield文本块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AutoGen agent.run_stream()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ModelClientStreamingChunkEvent实时输出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TaskResult不提前break，避免context detach异常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60" y="1691640"/>
            <a:ext cx="6903720" cy="416052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60" y="1691640"/>
            <a:ext cx="73152" cy="41605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45152" y="1801368"/>
            <a:ext cx="6629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DOCX专用路径：Producer-Consumer队列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09160" y="2743200"/>
            <a:ext cx="1143000" cy="749808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F8FF"/>
                </a:solidFill>
                <a:latin typeface="Microsoft YaHei"/>
              </a:defRPr>
            </a:pPr>
            <a:r>
              <a:t>ICA Agent</a:t>
            </a:r>
            <a:br/>
            <a:r>
              <a:t>上游流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53328" y="2743200"/>
            <a:ext cx="1143000" cy="749808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F8FF"/>
                </a:solidFill>
                <a:latin typeface="Microsoft YaHei"/>
              </a:defRPr>
            </a:pPr>
            <a:r>
              <a:t>Producer</a:t>
            </a:r>
            <a:br/>
            <a:r>
              <a:t>快速抽干chunk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25312" y="3118104"/>
            <a:ext cx="54864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397496" y="2743200"/>
            <a:ext cx="1143000" cy="749808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F8FF"/>
                </a:solidFill>
                <a:latin typeface="Microsoft YaHei"/>
              </a:defRPr>
            </a:pPr>
            <a:r>
              <a:t>asyncio.Queue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269480" y="3118104"/>
            <a:ext cx="54864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741664" y="2743200"/>
            <a:ext cx="1143000" cy="749808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F8FF"/>
                </a:solidFill>
                <a:latin typeface="Microsoft YaHei"/>
              </a:defRPr>
            </a:pPr>
            <a:r>
              <a:t>Consumer</a:t>
            </a:r>
            <a:br/>
            <a:r>
              <a:t>逐字符打字机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613648" y="3118104"/>
            <a:ext cx="54864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0085832" y="2743200"/>
            <a:ext cx="1143000" cy="749808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F8FF"/>
                </a:solidFill>
                <a:latin typeface="Microsoft YaHei"/>
              </a:defRPr>
            </a:pPr>
            <a:r>
              <a:t>前端</a:t>
            </a:r>
            <a:br/>
            <a:r>
              <a:t>稳定展示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957816" y="3118104"/>
            <a:ext cx="54864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709160" y="3794760"/>
            <a:ext cx="6400800" cy="13716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30">
                <a:solidFill>
                  <a:srgbClr val="AFCDEB"/>
                </a:solidFill>
                <a:latin typeface="Microsoft YaHei"/>
              </a:defRPr>
            </a:pPr>
            <a:r>
              <a:t>• 问题：ICA网关可能一次返回较大chunk，直接sleep会把背压传导到连接，导致长分析超时/断开。</a:t>
            </a:r>
          </a:p>
          <a:p>
            <a:pPr>
              <a:spcAft>
                <a:spcPts val="400"/>
              </a:spcAft>
              <a:defRPr sz="1030">
                <a:solidFill>
                  <a:srgbClr val="AFCDEB"/>
                </a:solidFill>
                <a:latin typeface="Microsoft YaHei"/>
              </a:defRPr>
            </a:pPr>
            <a:r>
              <a:t>• 方案：读取上游流与打字机节流解耦；Producer尽快消费上游，Consumer按字符输出。</a:t>
            </a:r>
          </a:p>
          <a:p>
            <a:pPr>
              <a:spcAft>
                <a:spcPts val="400"/>
              </a:spcAft>
              <a:defRPr sz="1030">
                <a:solidFill>
                  <a:srgbClr val="AFCDEB"/>
                </a:solidFill>
                <a:latin typeface="Microsoft YaHei"/>
              </a:defRPr>
            </a:pPr>
            <a:r>
              <a:t>• 效果：既保留打字机体验，又降低连接空闲/写超时风险。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F3168D6-41E9-11BD-4B2A-EA424EB62887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PDF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10. PDF文本提取与报告导出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从财务PDF到专业报告的两条关键处理链路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45920"/>
            <a:ext cx="5166360" cy="42519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45920"/>
            <a:ext cx="73152" cy="425196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755648"/>
            <a:ext cx="48920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PDF文本提取服务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176272"/>
            <a:ext cx="4846320" cy="36576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主引擎：pdfplumber（表格/布局更佳）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备用引擎：PyPDF2（容错兜底）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提取完整文本内容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提取元数据：标题/作者/页数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记录创建时间与提取方式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返回 extraction_method + 时间戳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服务：services/pdf_service.py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核心：extract_text_from_pdf()(12–60)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1645920"/>
            <a:ext cx="5166360" cy="42519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63640" y="1645920"/>
            <a:ext cx="73152" cy="42519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28231" y="1755648"/>
            <a:ext cx="48920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PDF报告导出服务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2176272"/>
            <a:ext cx="4846320" cy="36576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输入：优先 Markdown 结果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解析：标题/列表/表格/加粗/分隔线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过滤：“正在分析…”等状态文本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应用自定义样式（标题/正文/表格）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字体：自动检测中文，兜底 Helvetica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输出：results/ 目录 PDF 下载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核心：generate_pdf()(79–188)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解析：_add_markdown_content()(190–291)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4179422-F00E-0AD7-7A4A-34189C6D1B66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Render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11. Markdown → PDF 渲染与中文字体兜底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把分析结果稳定转成可读、可下载的专业 PDF 报告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737360"/>
            <a:ext cx="347472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1520" y="1737360"/>
            <a:ext cx="73152" cy="182880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184708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Markdown 解析映射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2267712"/>
            <a:ext cx="3154679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# → 一级标题（蓝，16pt）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## → 二级标题（浅蓝，14pt）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### → 三级标题（加粗，12pt）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- 列表 → 项目符号（缩进10）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|表格| → 表头高亮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**加粗** / --- 分隔线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1737360"/>
            <a:ext cx="347472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34840" y="1737360"/>
            <a:ext cx="73152" cy="18288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99431" y="184708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生成流程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2267712"/>
            <a:ext cx="3154679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接收 Markdown 分析结果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解析标题/列表/表格/加粗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过滤“正在分析…”状态文本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应用自定义样式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ReportLab 生成 PDF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保存到 results/ 目录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1737360"/>
            <a:ext cx="329184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38160" y="1737360"/>
            <a:ext cx="73152" cy="18288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02752" y="1847088"/>
            <a:ext cx="30175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中文字体兜底链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267712"/>
            <a:ext cx="2971800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macOS：STHeiti/PingFang/苹方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Linux：DejaVu/wqy/NotoSansCJK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Windows：simhei/simsun/msyh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兜底：SourceHanSansSC(OTF)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4069080"/>
            <a:ext cx="10698480" cy="13716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" y="4069080"/>
            <a:ext cx="73152" cy="137160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6112" y="4178808"/>
            <a:ext cx="1042415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字体注册要点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599432"/>
            <a:ext cx="1037844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0">
                <a:solidFill>
                  <a:srgbClr val="AFCDEB"/>
                </a:solidFill>
                <a:latin typeface="Microsoft YaHei"/>
              </a:defRPr>
            </a:pPr>
            <a:r>
              <a:t>优先 TTF/TTC（ReportLab 对 OTF 的 PostScript 轮廓支持不佳，OTF 放最后兜底）；注册时字体名中的连字符“-”会替换为下划线“_”；若全部未命中则回退内置 Helvetica。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FE33CAE-16E6-CC08-88CD-6A9C473C2610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Summary Gen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12. 摘要生成模块：从分析到一屏速览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从结构化分析结果中萃取关键信息，生成简洁摘要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737360"/>
            <a:ext cx="347472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1520" y="1737360"/>
            <a:ext cx="73152" cy="182880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184708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摘要内容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2267712"/>
            <a:ext cx="3154679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总体概况（分析项目数量）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关键财务指标（前 5 个）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统计信息（总营收/利润/时间）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1737360"/>
            <a:ext cx="347472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34840" y="1737360"/>
            <a:ext cx="73152" cy="18288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99431" y="184708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数据来源与处理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2267712"/>
            <a:ext cx="3154679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输入：结构化分析数据数组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提取 trend / risk / metrics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复用统一语义层，无需重解析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1737360"/>
            <a:ext cx="329184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38160" y="1737360"/>
            <a:ext cx="73152" cy="18288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02752" y="1847088"/>
            <a:ext cx="30175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API 端点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267712"/>
            <a:ext cx="2971800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POST …/generate-summary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Content-Type：application/json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返回 summary.title + sections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4069080"/>
            <a:ext cx="10698480" cy="13716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" y="4069080"/>
            <a:ext cx="73152" cy="137160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6112" y="4178808"/>
            <a:ext cx="1042415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核心方法与用途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599432"/>
            <a:ext cx="1037844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0">
                <a:solidFill>
                  <a:srgbClr val="AFCDEB"/>
                </a:solidFill>
                <a:latin typeface="Microsoft YaHei"/>
              </a:defRPr>
            </a:pPr>
            <a:r>
              <a:t>ai_service.generate_summary_from_analysis()（第 381–442 行）：从详细分析中萃取关键信息并结构化输出，供前端 SummaryViewer 一屏速览，与详细视图 / Markdown 视图共享同一份分析数据。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FE33CAE-16E6-CC08-88CD-6A9C473C2610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Data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13. 数据模型：结构化财务报告对象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支持趋势、风险、指标、建议的分析结果承载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3566160" cy="4526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73152" cy="45262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709928"/>
            <a:ext cx="32918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FinanceReport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130552"/>
            <a:ext cx="3246120" cy="3931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id：报告 ID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title / description：标题与描述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value / unit：数值与单位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trend：趋势类型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risk_level：风险等级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recommendation：建议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metrics：指标列表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created_at：创建时间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26280" y="1600200"/>
            <a:ext cx="3337560" cy="4526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26280" y="1600200"/>
            <a:ext cx="73152" cy="452628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90872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FinanceMetric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2130552"/>
            <a:ext cx="3017520" cy="3931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name：指标名称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value：当前值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unit：单位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previous_value：前期值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change_percentage：变化百分比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1600200"/>
            <a:ext cx="3291840" cy="452628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38160" y="1600200"/>
            <a:ext cx="73152" cy="45262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02752" y="1709928"/>
            <a:ext cx="30175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枚举与语义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130552"/>
            <a:ext cx="2971800" cy="393192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TrendType：上升/下降/稳定/波动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RiskLevel：低 / 中 / 高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用于前端标签与趋势图标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用于风险等级高亮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定义：models/finance_report.py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为 Excel / BI 集成打基础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EFCDAA1-4CB4-4A61-E1DC-96389287F8D5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14. API接口规范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面向前端与第三方系统集成的服务化能力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5074920" cy="10515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73152" cy="105156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709928"/>
            <a:ext cx="4800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分析财务报告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130552"/>
            <a:ext cx="4754880" cy="4571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50" b="0">
                <a:solidFill>
                  <a:srgbClr val="AFCDEB"/>
                </a:solidFill>
                <a:latin typeface="Microsoft YaHei"/>
              </a:defRPr>
            </a:pPr>
            <a:r>
              <a:t>POST /api/finance-analysis/analyze</a:t>
            </a:r>
            <a:br/>
            <a:r>
              <a:t>multipart/form-data</a:t>
            </a:r>
            <a:br/>
            <a:r>
              <a:t>返回：text/markdown 流式Markdown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1600200"/>
            <a:ext cx="5074920" cy="10515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17920" y="1600200"/>
            <a:ext cx="73152" cy="105156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82512" y="1709928"/>
            <a:ext cx="4800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生成摘要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130552"/>
            <a:ext cx="4754880" cy="4571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50" b="0">
                <a:solidFill>
                  <a:srgbClr val="AFCDEB"/>
                </a:solidFill>
                <a:latin typeface="Microsoft YaHei"/>
              </a:defRPr>
            </a:pPr>
            <a:r>
              <a:t>POST /api/finance-analysis/generate-summary</a:t>
            </a:r>
            <a:br/>
            <a:r>
              <a:t>application/json</a:t>
            </a:r>
            <a:br/>
            <a:r>
              <a:t>返回：summary.sections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3017520"/>
            <a:ext cx="5074920" cy="10515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85800" y="3017520"/>
            <a:ext cx="73152" cy="10515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0392" y="3127248"/>
            <a:ext cx="4800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导出PDF报告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3547872"/>
            <a:ext cx="4754880" cy="4571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50" b="0">
                <a:solidFill>
                  <a:srgbClr val="AFCDEB"/>
                </a:solidFill>
                <a:latin typeface="Microsoft YaHei"/>
              </a:defRPr>
            </a:pPr>
            <a:r>
              <a:t>POST /api/finance-analysis/export</a:t>
            </a:r>
            <a:br/>
            <a:r>
              <a:t>application/json</a:t>
            </a:r>
            <a:br/>
            <a:r>
              <a:t>返回：application/pdf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3017520"/>
            <a:ext cx="5074920" cy="10515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217920" y="3017520"/>
            <a:ext cx="73152" cy="105156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82512" y="3127248"/>
            <a:ext cx="4800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下载报告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3547872"/>
            <a:ext cx="4754880" cy="4571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50" b="0">
                <a:solidFill>
                  <a:srgbClr val="AFCDEB"/>
                </a:solidFill>
                <a:latin typeface="Microsoft YaHei"/>
              </a:defRPr>
            </a:pPr>
            <a:r>
              <a:t>GET /api/finance-analysis/download/{filename}</a:t>
            </a:r>
            <a:br/>
            <a:r>
              <a:t>返回：PDF文件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5800" y="4434840"/>
            <a:ext cx="5074920" cy="10515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85800" y="4434840"/>
            <a:ext cx="73152" cy="105156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0392" y="4544568"/>
            <a:ext cx="4800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Microsoft YaHei"/>
              </a:defRPr>
            </a:pPr>
            <a:r>
              <a:t>健康检查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" y="4965192"/>
            <a:ext cx="4754880" cy="4571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50" b="0">
                <a:solidFill>
                  <a:srgbClr val="AFCDEB"/>
                </a:solidFill>
                <a:latin typeface="Microsoft YaHei"/>
              </a:defRPr>
            </a:pPr>
            <a:r>
              <a:t>GET /api/ping</a:t>
            </a:r>
            <a:br/>
            <a:r>
              <a:t>返回：success / pong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2CB8036-ED22-ED7A-8AE4-611AFD857850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Frontend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15. 前端组件设计与用户体验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从上传到查看、摘要、导出的完整交互闭环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1828800"/>
            <a:ext cx="1645920" cy="685800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5F8FF"/>
                </a:solidFill>
                <a:latin typeface="Microsoft YaHei"/>
              </a:defRPr>
            </a:pPr>
            <a:r>
              <a:t>Header / Hero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41448" y="1828800"/>
            <a:ext cx="1645920" cy="685800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5F8FF"/>
                </a:solidFill>
                <a:latin typeface="Microsoft YaHei"/>
              </a:defRPr>
            </a:pPr>
            <a:r>
              <a:t>WorkspaceArea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13432" y="2171700"/>
            <a:ext cx="54864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288536" y="1828800"/>
            <a:ext cx="1645920" cy="685800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5F8FF"/>
                </a:solidFill>
                <a:latin typeface="Microsoft YaHei"/>
              </a:defRPr>
            </a:pPr>
            <a:r>
              <a:t>UploadArea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160520" y="2171700"/>
            <a:ext cx="54864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135624" y="1828800"/>
            <a:ext cx="1645920" cy="685800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5F8FF"/>
                </a:solidFill>
                <a:latin typeface="Microsoft YaHei"/>
              </a:defRPr>
            </a:pPr>
            <a:r>
              <a:t>StreamingOutput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007608" y="2171700"/>
            <a:ext cx="54864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982712" y="1828800"/>
            <a:ext cx="1645920" cy="685800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5F8FF"/>
                </a:solidFill>
                <a:latin typeface="Microsoft YaHei"/>
              </a:defRPr>
            </a:pPr>
            <a:r>
              <a:t>Analysis / Summary / MindMap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54696" y="2171700"/>
            <a:ext cx="54864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829800" y="1828800"/>
            <a:ext cx="1645920" cy="685800"/>
          </a:xfrm>
          <a:prstGeom prst="roundRect">
            <a:avLst/>
          </a:prstGeom>
          <a:solidFill>
            <a:srgbClr val="081237"/>
          </a:solidFill>
          <a:ln w="1651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5F8FF"/>
                </a:solidFill>
                <a:latin typeface="Microsoft YaHei"/>
              </a:defRPr>
            </a:pPr>
            <a:r>
              <a:t>Export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701784" y="2171700"/>
            <a:ext cx="54864" cy="0"/>
          </a:xfrm>
          <a:prstGeom prst="line">
            <a:avLst/>
          </a:prstGeom>
          <a:ln w="17780">
            <a:solidFill>
              <a:srgbClr val="50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731520" y="2971800"/>
            <a:ext cx="3383280" cy="24231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31520" y="2971800"/>
            <a:ext cx="73152" cy="242316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96112" y="3081528"/>
            <a:ext cx="31089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UploadArea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3502152"/>
            <a:ext cx="3063240" cy="18288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拖拽上传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文件类型验证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上传进度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提交context与requirements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34840" y="2971800"/>
            <a:ext cx="3383280" cy="24231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434840" y="2971800"/>
            <a:ext cx="73152" cy="242316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99431" y="3081528"/>
            <a:ext cx="31089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StreamingOutput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7720" y="3502152"/>
            <a:ext cx="3063240" cy="18288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ReadableStream读取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TextDecoder解码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实时更新UI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滚动自动跟随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38160" y="2971800"/>
            <a:ext cx="3383280" cy="24231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138160" y="2971800"/>
            <a:ext cx="73152" cy="24231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02752" y="3081528"/>
            <a:ext cx="31089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展示视图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3502152"/>
            <a:ext cx="3063240" cy="18288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详细视图 / Markdown视图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风险等级标签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趋势图标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摘要查看器与思维导图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7B172ED-C681-3D15-3969-D813A00BDF39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Deployment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16. 部署、配置与安全设计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从本地运行到生产化部署的关键控制点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3474720" cy="44348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73152" cy="443484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70992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环境与启动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130552"/>
            <a:ext cx="3154679" cy="3840479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后端：Python 3.12+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前端：Node.js 16+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根目录启动：python -m backend.main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或 uvicorn backend.main:app --reload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API 文档：/docs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健康检查：/api/ping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60" y="1600200"/>
            <a:ext cx="3474720" cy="44348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60" y="1600200"/>
            <a:ext cx="73152" cy="443484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45152" y="170992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配置管理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130552"/>
            <a:ext cx="3154679" cy="3840479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backend/.env 不纳入版本控制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DASHSCOPE_API_KEY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DEEPSEEK_API_KEY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ICA_API_KEY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python-dotenv 启动时加载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客户端统一读取环境变量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75320" y="1600200"/>
            <a:ext cx="3154680" cy="443484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275320" y="1600200"/>
            <a:ext cx="73152" cy="443484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39912" y="1709928"/>
            <a:ext cx="2880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安全策略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2130552"/>
            <a:ext cx="2834640" cy="3840479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UUID 文件名避免路径遍历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文件类型白名单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限制文件大小（建议&lt;50MB）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清理 context / requirements 输入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生产启用 HTTPS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CORS 从 * 收敛为指定域名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D2C12BB-7ED3-B04B-0D8E-FBA86A77D4EB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657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Reliability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17. 错误处理与日志体系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将常见故障显性化，提升可运维性与用户体验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645920"/>
            <a:ext cx="5212080" cy="566928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1520" y="1657350"/>
            <a:ext cx="73152" cy="566928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1618488"/>
            <a:ext cx="4937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1">
                <a:solidFill>
                  <a:srgbClr val="F5F8FF"/>
                </a:solidFill>
                <a:latin typeface="Microsoft YaHei"/>
              </a:defRPr>
            </a:pPr>
            <a:r>
              <a:rPr dirty="0" err="1"/>
              <a:t>AuthenticationError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914400" y="2039112"/>
            <a:ext cx="4892040" cy="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0">
                <a:solidFill>
                  <a:srgbClr val="AFCDEB"/>
                </a:solidFill>
                <a:latin typeface="Microsoft YaHei"/>
              </a:defRPr>
            </a:pPr>
            <a:r>
              <a:rPr dirty="0"/>
              <a:t>API </a:t>
            </a:r>
            <a:r>
              <a:rPr dirty="0" err="1"/>
              <a:t>Key无效或过期</a:t>
            </a:r>
            <a:r>
              <a:rPr dirty="0"/>
              <a:t> → </a:t>
            </a:r>
            <a:r>
              <a:rPr dirty="0" err="1"/>
              <a:t>检查并更新密钥</a:t>
            </a:r>
            <a:endParaRPr dirty="0"/>
          </a:p>
        </p:txBody>
      </p:sp>
      <p:sp>
        <p:nvSpPr>
          <p:cNvPr id="44" name="Rounded Rectangle 43"/>
          <p:cNvSpPr/>
          <p:nvPr/>
        </p:nvSpPr>
        <p:spPr>
          <a:xfrm>
            <a:off x="731520" y="2395728"/>
            <a:ext cx="5212080" cy="566928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31520" y="2407158"/>
            <a:ext cx="73152" cy="56692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6112" y="2368296"/>
            <a:ext cx="4937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1">
                <a:solidFill>
                  <a:srgbClr val="F5F8FF"/>
                </a:solidFill>
                <a:latin typeface="Microsoft YaHei"/>
              </a:defRPr>
            </a:pPr>
            <a:r>
              <a:t>FileNotFoundError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2788920"/>
            <a:ext cx="4892040" cy="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0">
                <a:solidFill>
                  <a:srgbClr val="AFCDEB"/>
                </a:solidFill>
                <a:latin typeface="Microsoft YaHei"/>
              </a:defRPr>
            </a:pPr>
            <a:r>
              <a:t>上传文件不存在 → 验证文件路径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3145536"/>
            <a:ext cx="5212080" cy="566928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31520" y="3156966"/>
            <a:ext cx="73152" cy="56692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6112" y="3118104"/>
            <a:ext cx="4937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1">
                <a:solidFill>
                  <a:srgbClr val="F5F8FF"/>
                </a:solidFill>
                <a:latin typeface="Microsoft YaHei"/>
              </a:defRPr>
            </a:pPr>
            <a:r>
              <a:t>UnicodeDecodeError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3538728"/>
            <a:ext cx="4892040" cy="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0">
                <a:solidFill>
                  <a:srgbClr val="AFCDEB"/>
                </a:solidFill>
                <a:latin typeface="Microsoft YaHei"/>
              </a:defRPr>
            </a:pPr>
            <a:r>
              <a:t>文本编码问题 → 尝试UTF-8/GBK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895343"/>
            <a:ext cx="5212080" cy="566928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" y="3906773"/>
            <a:ext cx="73152" cy="56692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6112" y="3867911"/>
            <a:ext cx="4937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1">
                <a:solidFill>
                  <a:srgbClr val="F5F8FF"/>
                </a:solidFill>
                <a:latin typeface="Microsoft YaHei"/>
              </a:defRPr>
            </a:pPr>
            <a:r>
              <a:t>PDF Extraction Error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288536"/>
            <a:ext cx="4892040" cy="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0">
                <a:solidFill>
                  <a:srgbClr val="AFCDEB"/>
                </a:solidFill>
                <a:latin typeface="Microsoft YaHei"/>
              </a:defRPr>
            </a:pPr>
            <a:r>
              <a:t>PDF损坏或复杂布局 → 启用备用提取引擎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4645152"/>
            <a:ext cx="5212080" cy="566928"/>
          </a:xfrm>
          <a:prstGeom prst="roundRect">
            <a:avLst/>
          </a:prstGeom>
          <a:solidFill>
            <a:srgbClr val="0A19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31520" y="4656582"/>
            <a:ext cx="73152" cy="566928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6112" y="4617720"/>
            <a:ext cx="4937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1">
                <a:solidFill>
                  <a:srgbClr val="F5F8FF"/>
                </a:solidFill>
                <a:latin typeface="Microsoft YaHei"/>
              </a:defRPr>
            </a:pPr>
            <a:r>
              <a:t>Font Registration Error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5038344"/>
            <a:ext cx="4892040" cy="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19" b="0">
                <a:solidFill>
                  <a:srgbClr val="AFCDEB"/>
                </a:solidFill>
                <a:latin typeface="Microsoft YaHei"/>
              </a:defRPr>
            </a:pPr>
            <a:r>
              <a:t>中文字体缺失 → 使用兜底字体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0" y="1600200"/>
            <a:ext cx="4846320" cy="42519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400800" y="1600200"/>
            <a:ext cx="73152" cy="425196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65392" y="1709928"/>
            <a:ext cx="45720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关键日志点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2130552"/>
            <a:ext cx="4526280" cy="36576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文件上传成功/失败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AI分析开始/完成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PDF文本提取状态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PDF报告生成状态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模型API调用错误</a:t>
            </a:r>
          </a:p>
          <a:p>
            <a:pPr>
              <a:spcAft>
                <a:spcPts val="400"/>
              </a:spcAft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• 流式连接异常与部分输出保留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17F61AA-A1DF-4813-378B-53D2A74DB9A2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Internals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18. 关键实现细节与踩坑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决定稳定性的工程细节：多模态消息、流式事件与连接保活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737360"/>
            <a:ext cx="347472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31520" y="1737360"/>
            <a:ext cx="73152" cy="182880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184708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多模态消息（图像）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2267712"/>
            <a:ext cx="3154679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PILImage.open 加载图像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封装为 AutoGen AGImage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MultiModalMessage([prompt, img])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source=“user”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1737360"/>
            <a:ext cx="347472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34840" y="1737360"/>
            <a:ext cx="73152" cy="18288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99431" y="1847088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流式事件陷阱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2267712"/>
            <a:ext cx="3154679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遍历 agent.run_stream() 事件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ChunkEvent → yield 文本块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TaskResult 用 pass 而非 break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否则 OpenTelemetry span 报错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1737360"/>
            <a:ext cx="3291840" cy="18288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38160" y="1737360"/>
            <a:ext cx="73152" cy="182880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02752" y="1847088"/>
            <a:ext cx="30175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DOCX 超时根因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267712"/>
            <a:ext cx="2971800" cy="123444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逐字符 sleep 把背压传导到连接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长分析触发写/空闲超时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peer closed connection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incomplete chunked read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4069080"/>
            <a:ext cx="10698480" cy="137160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520" y="4069080"/>
            <a:ext cx="73152" cy="137160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96112" y="4178808"/>
            <a:ext cx="10424159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>
                <a:solidFill>
                  <a:srgbClr val="F5F8FF"/>
                </a:solidFill>
                <a:latin typeface="Microsoft YaHei"/>
              </a:defRPr>
            </a:pPr>
            <a:r>
              <a:t>生产者-消费者解耦方案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599432"/>
            <a:ext cx="1037844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0">
                <a:solidFill>
                  <a:srgbClr val="AFCDEB"/>
                </a:solidFill>
                <a:latin typeface="Microsoft YaHei"/>
              </a:defRPr>
            </a:pPr>
            <a:r>
              <a:t>Producer 协程尽快抽干 run_stream 的 chunk 放入 asyncio.Queue，让上游 HTTP 连接迅速干净关闭；Consumer 从队列取出按字符 sleep(0.02) 输出；上游中途断开则保留已输出内容并在末尾追加错误提示。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FE33CAE-16E6-CC08-88CD-6A9C473C2610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Roadmap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19. 性能优化与未来规划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从可用系统演进为企业级平台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1600200"/>
            <a:ext cx="3429000" cy="44805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1600200"/>
            <a:ext cx="73152" cy="448056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当前瓶颈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130552"/>
            <a:ext cx="3108960" cy="38862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大 PDF 文本提取较慢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AI 响应时间依赖模型提供商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ReportLab 渲染复杂表格较慢</a:t>
            </a:r>
          </a:p>
          <a:p>
            <a:pPr>
              <a:spcAft>
                <a:spcPts val="400"/>
              </a:spcAft>
              <a:defRPr sz="1100">
                <a:solidFill>
                  <a:srgbClr val="AFCDEB"/>
                </a:solidFill>
                <a:latin typeface="Microsoft YaHei"/>
              </a:defRPr>
            </a:pPr>
            <a:r>
              <a:t>• 大文件带来内存压力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1600200"/>
            <a:ext cx="3429000" cy="44805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89120" y="1600200"/>
            <a:ext cx="73152" cy="448056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53712" y="1709928"/>
            <a:ext cx="31546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短/中期优化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2130552"/>
            <a:ext cx="3108960" cy="38862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上传大小限制（建议&lt;50MB）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请求超时控制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异步 IO 优化文件操作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分析结果缓存（相同文件不重复）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任务队列 Celery / RQ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大型结果分页加载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1600200"/>
            <a:ext cx="3337560" cy="448056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1600200"/>
            <a:ext cx="73152" cy="448056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57031" y="170992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长期演进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19" y="2130552"/>
            <a:ext cx="3017520" cy="38862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PDFium 等更快解析库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分布式 AI 推理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CDN 加速静态资源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RAG 向量数据库增强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多模型自动切换（成本/性能）</a:t>
            </a:r>
          </a:p>
          <a:p>
            <a:pPr>
              <a:spcAft>
                <a:spcPts val="400"/>
              </a:spcAft>
              <a:defRPr sz="1050">
                <a:solidFill>
                  <a:srgbClr val="AFCDEB"/>
                </a:solidFill>
                <a:latin typeface="Microsoft YaHei"/>
              </a:defRPr>
            </a:pPr>
            <a:r>
              <a:t>• 行业模板与 API 订阅服务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C2E2E15-675B-C226-6FBF-DFB24A7A390B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1097280"/>
            <a:ext cx="4389120" cy="4389120"/>
          </a:xfrm>
          <a:prstGeom prst="ellipse">
            <a:avLst/>
          </a:prstGeom>
          <a:solidFill>
            <a:srgbClr val="00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-777240"/>
            <a:ext cx="4389120" cy="438912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52560" y="-457200"/>
            <a:ext cx="4389120" cy="438912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7315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260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0976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704320" y="45720"/>
            <a:ext cx="0" cy="6675120"/>
          </a:xfrm>
          <a:prstGeom prst="line">
            <a:avLst/>
          </a:prstGeom>
          <a:ln w="5080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2880" y="5029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2880" y="10058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5087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2880" y="20116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" y="25146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2880" y="30175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2880" y="35204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" y="40233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2880" y="452628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2880" y="502920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2880" y="553212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82880" y="603504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" y="6537960"/>
            <a:ext cx="11704320" cy="0"/>
          </a:xfrm>
          <a:prstGeom prst="line">
            <a:avLst/>
          </a:prstGeom>
          <a:ln w="4445">
            <a:solidFill>
              <a:srgbClr val="19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"/>
            <a:ext cx="1645920" cy="310896"/>
          </a:xfrm>
          <a:prstGeom prst="roundRect">
            <a:avLst/>
          </a:prstGeom>
          <a:solidFill>
            <a:srgbClr val="005382"/>
          </a:solidFill>
          <a:ln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50E6FF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Microsoft YaHei"/>
              </a:defRPr>
            </a:pPr>
            <a:r>
              <a:t>20. 总结：为什么这个方案具备落地价值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2161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FCDEB"/>
                </a:solidFill>
                <a:latin typeface="Microsoft YaHei"/>
              </a:defRPr>
            </a:pPr>
            <a:r>
              <a:t>技术深度、产品闭环与扩展能力兼备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1691640"/>
            <a:ext cx="3337560" cy="141732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00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" y="1691640"/>
            <a:ext cx="73152" cy="141732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1832" y="18013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多模态输入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2221992"/>
            <a:ext cx="301752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图像 / PDF / Word统一接入，覆盖真实财务材料形态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0559" y="1691640"/>
            <a:ext cx="3337560" cy="141732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480559" y="1691640"/>
            <a:ext cx="73152" cy="14173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45151" y="18013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多模型协同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221992"/>
            <a:ext cx="301752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按文件类型动态路由 Qwen3-VL / DeepSeek / IBM ICA，各司其职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1691640"/>
            <a:ext cx="3337560" cy="141732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83879" y="1691640"/>
            <a:ext cx="73152" cy="141732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48471" y="1801368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流式体验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59" y="2221992"/>
            <a:ext cx="301752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StreamingResponse + AutoGen，让用户实时看到分析过程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566160"/>
            <a:ext cx="3337560" cy="141732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566160"/>
            <a:ext cx="73152" cy="1417320"/>
          </a:xfrm>
          <a:prstGeom prst="rect">
            <a:avLst/>
          </a:prstGeom>
          <a:solidFill>
            <a:srgbClr val="FF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1832" y="3675887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工程稳定性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" y="4096511"/>
            <a:ext cx="301752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生产者-消费者队列解耦，保障长文档分析连接稳定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3566160"/>
            <a:ext cx="3337560" cy="141732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480559" y="3566160"/>
            <a:ext cx="73152" cy="1417320"/>
          </a:xfrm>
          <a:prstGeom prst="rect">
            <a:avLst/>
          </a:prstGeom>
          <a:solidFill>
            <a:srgbClr val="50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45151" y="3675887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产品化输出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0" y="4096511"/>
            <a:ext cx="301752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Markdown 渲染、摘要速览、PDF 报告与结构化数据模型完整闭环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79" y="3566160"/>
            <a:ext cx="3337560" cy="1417320"/>
          </a:xfrm>
          <a:prstGeom prst="roundRect">
            <a:avLst/>
          </a:prstGeom>
          <a:solidFill>
            <a:srgbClr val="081237"/>
          </a:solidFill>
          <a:ln w="1524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83879" y="3566160"/>
            <a:ext cx="73152" cy="141732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48471" y="3675887"/>
            <a:ext cx="306324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Microsoft YaHei"/>
              </a:defRPr>
            </a:pPr>
            <a:r>
              <a:t>企业级扩展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59" y="4096511"/>
            <a:ext cx="3017520" cy="822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50" b="0">
                <a:solidFill>
                  <a:srgbClr val="AFCDEB"/>
                </a:solidFill>
                <a:latin typeface="Microsoft YaHei"/>
              </a:defRPr>
            </a:pPr>
            <a:r>
              <a:t>支持Excel/CSV、RAG、多模型切换、行业模板与部署增强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6510528"/>
            <a:ext cx="77724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>
                <a:solidFill>
                  <a:srgbClr val="7896BE"/>
                </a:solidFill>
                <a:latin typeface="Microsoft YaHei"/>
              </a:defRPr>
            </a:pPr>
            <a:r>
              <a:t>Finance Analysis Automation | Solution Architecture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871E107-D2D0-E855-C854-840A8959CFC3}"/>
              </a:ext>
            </a:extLst>
          </p:cNvPr>
          <p:cNvSpPr txBox="1"/>
          <p:nvPr/>
        </p:nvSpPr>
        <p:spPr>
          <a:xfrm>
            <a:off x="10567686" y="106981"/>
            <a:ext cx="149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solidFill>
                  <a:srgbClr val="7030A0"/>
                </a:solidFill>
              </a:rPr>
              <a:t>IBM AI</a:t>
            </a:r>
            <a:endParaRPr kumimoji="1" lang="zh-CN" altLang="en-US" sz="2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2265</Words>
  <Application>Microsoft Macintosh PowerPoint</Application>
  <PresentationFormat>宽屏</PresentationFormat>
  <Paragraphs>471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CHUN HUI YU (Harvey)</dc:creator>
  <cp:keywords/>
  <dc:description>generated using python-pptx</dc:description>
  <cp:lastModifiedBy>CHUN HUI YU (Harvey)</cp:lastModifiedBy>
  <cp:revision>7</cp:revision>
  <dcterms:created xsi:type="dcterms:W3CDTF">2026-06-26T03:14:35Z</dcterms:created>
  <dcterms:modified xsi:type="dcterms:W3CDTF">2026-06-29T02:28:13Z</dcterms:modified>
  <cp:category/>
</cp:coreProperties>
</file>