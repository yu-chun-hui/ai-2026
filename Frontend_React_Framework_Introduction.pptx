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1810512"/>
            <a:ext cx="804672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800" b="1">
                <a:solidFill>
                  <a:srgbClr val="F5F8FF"/>
                </a:solidFill>
                <a:latin typeface="Microsoft YaHei"/>
              </a:defRPr>
            </a:pPr>
            <a:r>
              <a:t>前端 React 框架介绍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2578608"/>
            <a:ext cx="841248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>
                <a:solidFill>
                  <a:srgbClr val="50E6FF"/>
                </a:solidFill>
                <a:latin typeface="Microsoft YaHei"/>
              </a:defRPr>
            </a:pPr>
            <a:r>
              <a:t>组件化、声明式、生态丰富的现代前端UI开发方案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182112"/>
            <a:ext cx="86868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50" b="0">
                <a:solidFill>
                  <a:srgbClr val="AFCDEB"/>
                </a:solidFill>
                <a:latin typeface="Microsoft YaHei"/>
              </a:defRPr>
            </a:pPr>
            <a:r>
              <a:t>适用于企业后台、数据看板、前后端分离应用、移动端与跨端UI体系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1627632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458200" y="1627632"/>
            <a:ext cx="64008" cy="5029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13648" y="1737360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F5F8FF"/>
                </a:solidFill>
                <a:latin typeface="Microsoft YaHei"/>
              </a:defRPr>
            </a:pPr>
            <a:r>
              <a:t>Components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58200" y="2313432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458200" y="2313432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13648" y="2423160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F5F8FF"/>
                </a:solidFill>
                <a:latin typeface="Microsoft YaHei"/>
              </a:defRPr>
            </a:pPr>
            <a:r>
              <a:t>JSX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58200" y="2999232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458200" y="2999232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13648" y="3108960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F5F8FF"/>
                </a:solidFill>
                <a:latin typeface="Microsoft YaHei"/>
              </a:defRPr>
            </a:pPr>
            <a:r>
              <a:t>Hooks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58200" y="3685032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458200" y="3685032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13648" y="3794760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>
                <a:solidFill>
                  <a:srgbClr val="F5F8FF"/>
                </a:solidFill>
                <a:latin typeface="Microsoft YaHei"/>
              </a:defRPr>
            </a:pPr>
            <a:r>
              <a:t>React DOM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从概念、核心机制、工程实践到生态选型的完整介绍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60020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" y="1600200"/>
            <a:ext cx="64008" cy="9601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" y="170992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01  React是什么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213055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定位、适用场景、核心价值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160020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1600200"/>
            <a:ext cx="64008" cy="9601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64808" y="170992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02  核心思想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213055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组件化、声明式、JSX、单向数据流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292608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22960" y="2926080"/>
            <a:ext cx="64008" cy="9601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8408" y="303580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03  状态与副作用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" y="345643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useState、useEffect、Context、Refs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292608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09360" y="2926080"/>
            <a:ext cx="64008" cy="9601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64808" y="303580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04  工程化实践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2" y="345643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路由、状态管理、数据请求、性能优化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" y="425196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22960" y="4251960"/>
            <a:ext cx="64008" cy="9601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8408" y="436168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05  生态与最佳实践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" y="478231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框架选型、项目结构、测试、部署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Overview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1. React是什么？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React 是用于构建 Web 和 Native 用户界面的 JavaScript UI 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45920"/>
            <a:ext cx="3474720" cy="3977639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45920"/>
            <a:ext cx="64008" cy="3977639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5564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一句话定义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76272"/>
            <a:ext cx="3182112" cy="338327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用于构建用户界面的JavaScript库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通过组件组合形成页面和应用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声明式描述UI状态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可用于Web和Native UI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1645920"/>
            <a:ext cx="3474720" cy="3977639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34840" y="1645920"/>
            <a:ext cx="64008" cy="3977639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90288" y="175564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9431" y="2176272"/>
            <a:ext cx="3182112" cy="338327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企业管理后台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复杂交互型Web应用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数据可视化看板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前后端分离系统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移动端跨端开发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设计系统与组件库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45920"/>
            <a:ext cx="3154680" cy="3977639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45920"/>
            <a:ext cx="64008" cy="3977639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55648"/>
            <a:ext cx="2880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核心关键词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76272"/>
            <a:ext cx="2862072" cy="338327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组件化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声明式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JSX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Hooks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状态驱动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生态丰富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2. 为什么选择 React？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在大型前端项目中，React的价值来自可组合、可复用和生态成熟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5087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组件化复用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将UI拆分为独立组件，便于复用、测试和团队协作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5087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声明式UI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开发者描述“状态对应的界面”，React负责高效更新DOM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5087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JSX表达力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将标记与渲染逻辑放在一起，使组件更易创建和维护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61188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611880"/>
            <a:ext cx="64008" cy="150876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2160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Hooks模型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4223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函数组件中使用状态、副作用、上下文、缓存等能力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61188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611880"/>
            <a:ext cx="64008" cy="150876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2160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生态完善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4223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路由、状态管理、UI库、构建工具、测试工具选择丰富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61188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611880"/>
            <a:ext cx="64008" cy="150876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2160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跨平台能力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4223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React Native、SSR/SSG框架和 Server Components 生态持续发展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3. React技术架构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React核心负责组件与渲染模型，React DOM负责浏览器环境中的DOM渲染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600200"/>
            <a:ext cx="10607040" cy="77724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" y="1600200"/>
            <a:ext cx="64008" cy="77724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" y="1709928"/>
            <a:ext cx="1033271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Application Layer · 业务应用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2130552"/>
            <a:ext cx="10314432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页面、路由、状态管理、数据请求、UI组件库、业务组件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80760" y="2395728"/>
            <a:ext cx="0" cy="219456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2960" y="2697480"/>
            <a:ext cx="10607040" cy="77724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2960" y="2697480"/>
            <a:ext cx="64008" cy="77724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8408" y="2807208"/>
            <a:ext cx="1033271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React Core · 组件、Hooks、状态与协调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3227832"/>
            <a:ext cx="10314432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函数组件、JSX、Hooks、Context、Suspense、memo、useTransition等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80760" y="3493008"/>
            <a:ext cx="0" cy="219455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22960" y="3794760"/>
            <a:ext cx="5074920" cy="91440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2960" y="3794760"/>
            <a:ext cx="64008" cy="9144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8408" y="3904488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React DOM · Web渲染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" y="4325112"/>
            <a:ext cx="4782312" cy="320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createRoot / hydrateRoot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DOM事件系统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浏览器HTML/SVG组件支持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5080" y="3794760"/>
            <a:ext cx="5074920" cy="91440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55080" y="3794760"/>
            <a:ext cx="64008" cy="91440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10528" y="3904488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框架与工具链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9672" y="4325112"/>
            <a:ext cx="4782312" cy="320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Vite / Next.js / Remix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TypeScript / ESLint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Jest / Testing Library / Playwright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5074920"/>
            <a:ext cx="10607040" cy="7315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22960" y="5074920"/>
            <a:ext cx="64008" cy="7315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" y="5184648"/>
            <a:ext cx="1033271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底层平台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" y="5605272"/>
            <a:ext cx="10314432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Browser DOM、JavaScript Runtime、HTTP API、CSS、构建与部署平台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Concepts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4. 核心概念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掌握React，重点理解组件、Props、State、事件、条件渲染与列表渲染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4813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Component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UI的最小复用单元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通常是JavaScript函数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返回需要显示的内容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48132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JSX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JavaScript语法扩展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在代码中描述UI结构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可嵌入表达式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48132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Props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父组件传入数据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只读输入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用于组件复用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93592"/>
            <a:ext cx="64008" cy="14813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State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组件内部记忆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状态变化触发重新渲染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适合交互数据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93592"/>
            <a:ext cx="64008" cy="1481328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Event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处理用户行为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如点击、输入、提交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更新状态驱动UI变化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93592"/>
            <a:ext cx="64008" cy="148132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Render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根据状态生成UI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条件渲染与列表渲染</a:t>
            </a:r>
          </a:p>
          <a:p>
            <a:pPr>
              <a:spcAft>
                <a:spcPts val="400"/>
              </a:spcAft>
              <a:defRPr sz="969">
                <a:solidFill>
                  <a:srgbClr val="AFCDEB"/>
                </a:solidFill>
                <a:latin typeface="Microsoft YaHei"/>
              </a:defRPr>
            </a:pPr>
            <a:r>
              <a:t>• key帮助列表协调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Example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5. JSX与组件示例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React组件通常是返回JSX的函数；组件可以接收Props并组合其他组件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600200"/>
            <a:ext cx="5486400" cy="45262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600200"/>
            <a:ext cx="64008" cy="45262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6968" y="1709928"/>
            <a:ext cx="52120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组件示例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2057400"/>
            <a:ext cx="5074920" cy="3520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D7EEFF"/>
                </a:solidFill>
                <a:latin typeface="Microsoft YaHei"/>
              </a:defRPr>
            </a:pPr>
            <a:r>
              <a:t>function UserCard({ user }) {</a:t>
            </a:r>
            <a:br/>
            <a:r>
              <a:t>  return (</a:t>
            </a:r>
            <a:br/>
            <a:r>
              <a:t>    &lt;article className="card"&gt;</a:t>
            </a:r>
            <a:br/>
            <a:r>
              <a:t>      &lt;img src={user.avatar} alt={user.name} /&gt;</a:t>
            </a:r>
            <a:br/>
            <a:r>
              <a:t>      &lt;h3&gt;{user.name}&lt;/h3&gt;</a:t>
            </a:r>
            <a:br/>
            <a:r>
              <a:t>      &lt;p&gt;{user.role}&lt;/p&gt;</a:t>
            </a:r>
            <a:br/>
            <a:r>
              <a:t>      &lt;button onClick={() =&gt; alert(user.name)}&gt;</a:t>
            </a:r>
            <a:br/>
            <a:r>
              <a:t>        View Profile</a:t>
            </a:r>
            <a:br/>
            <a:r>
              <a:t>      &lt;/button&gt;</a:t>
            </a:r>
            <a:br/>
            <a:r>
              <a:t>    &lt;/article&gt;</a:t>
            </a:r>
            <a:br/>
            <a:r>
              <a:t>  );</a:t>
            </a:r>
            <a:br/>
            <a:r>
              <a:t>}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7960" y="1600200"/>
            <a:ext cx="4800600" cy="45262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37960" y="1600200"/>
            <a:ext cx="64008" cy="4526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93408" y="1709928"/>
            <a:ext cx="4526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代码说明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02552" y="2130552"/>
            <a:ext cx="4507992" cy="3931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UserCard 是一个函数组件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user 是父组件传入的 props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JSX中可以嵌入JavaScript表达式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事件处理通过 onClick 等属性绑定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组件可以组合成页面、页面再组合成应用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Hooks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6. Hooks：函数组件的能力入口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Hooks让函数组件可以使用状态、副作用、上下文、引用和性能优化能力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4813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useState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声明状态变量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适合表单、开关、计数器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状态更新触发渲染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48132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useEffect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连接外部系统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请求数据/订阅/定时器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清理副作用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48132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useContext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跨层级读取上下文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主题、语言、当前用户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避免层层传props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93592"/>
            <a:ext cx="64008" cy="14813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useRef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保存不触发渲染的值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访问DOM节点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保存定时器ID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93592"/>
            <a:ext cx="64008" cy="1481328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useMemo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缓存计算结果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减少昂贵计算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配合依赖数组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93592"/>
            <a:ext cx="64008" cy="148132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useCallback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缓存函数引用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减少子组件无效更新</a:t>
            </a:r>
          </a:p>
          <a:p>
            <a:pPr>
              <a:spcAft>
                <a:spcPts val="400"/>
              </a:spcAft>
              <a:defRPr sz="940">
                <a:solidFill>
                  <a:srgbClr val="AFCDEB"/>
                </a:solidFill>
                <a:latin typeface="Microsoft YaHei"/>
              </a:defRPr>
            </a:pPr>
            <a:r>
              <a:t>• 常与memo配合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Data 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7. 数据流与状态管理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React推荐单向数据流：状态驱动UI，事件触发状态变化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2011680"/>
            <a:ext cx="1417320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5F8FF"/>
                </a:solidFill>
                <a:latin typeface="Microsoft YaHei"/>
              </a:defRPr>
            </a:pPr>
            <a:r>
              <a:t>State</a:t>
            </a:r>
            <a:br/>
            <a:r>
              <a:t>状态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2011680"/>
            <a:ext cx="1417320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5F8FF"/>
                </a:solidFill>
                <a:latin typeface="Microsoft YaHei"/>
              </a:defRPr>
            </a:pPr>
            <a:r>
              <a:t>Render</a:t>
            </a:r>
            <a:br/>
            <a:r>
              <a:t>渲染UI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496312" y="2386584"/>
            <a:ext cx="347472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846320" y="2011680"/>
            <a:ext cx="1417320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5F8FF"/>
                </a:solidFill>
                <a:latin typeface="Microsoft YaHei"/>
              </a:defRPr>
            </a:pPr>
            <a:r>
              <a:t>User Event</a:t>
            </a:r>
            <a:br/>
            <a:r>
              <a:t>用户交互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462272" y="2386584"/>
            <a:ext cx="347472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12280" y="2011680"/>
            <a:ext cx="1417320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5F8FF"/>
                </a:solidFill>
                <a:latin typeface="Microsoft YaHei"/>
              </a:defRPr>
            </a:pPr>
            <a:r>
              <a:t>setState</a:t>
            </a:r>
            <a:br/>
            <a:r>
              <a:t>更新状态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28232" y="2386584"/>
            <a:ext cx="347472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778240" y="2011680"/>
            <a:ext cx="1417320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5F8FF"/>
                </a:solidFill>
                <a:latin typeface="Microsoft YaHei"/>
              </a:defRPr>
            </a:pPr>
            <a:r>
              <a:t>Re-render</a:t>
            </a:r>
            <a:br/>
            <a:r>
              <a:t>重新渲染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94192" y="2386584"/>
            <a:ext cx="347472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77240" y="3657600"/>
            <a:ext cx="3337560" cy="157276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77240" y="3657600"/>
            <a:ext cx="64008" cy="157276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2688" y="37673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本地状态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" y="4187952"/>
            <a:ext cx="3044952" cy="978407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组件内部交互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useState/useReducer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如表单、弹窗、局部筛选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34840" y="3657600"/>
            <a:ext cx="3337560" cy="157276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434840" y="3657600"/>
            <a:ext cx="64008" cy="157276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90288" y="37673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共享状态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99431" y="4187952"/>
            <a:ext cx="3044952" cy="978407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跨组件共享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Context / Zustand / Redux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如登录用户、主题、权限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3657600"/>
            <a:ext cx="3337560" cy="157276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92440" y="3657600"/>
            <a:ext cx="64008" cy="157276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47888" y="37673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服务端状态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57031" y="4187952"/>
            <a:ext cx="3044952" cy="978407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远程接口数据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TanStack Query / SWR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缓存、重试、失效、分页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Effects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8. 副作用与数据请求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Effect用于同步外部系统；不是所有数据流都应该放进useEffect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42900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42519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适合Effect的场景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30552"/>
            <a:ext cx="313639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连接外部系统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订阅与取消订阅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浏览器API调用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定时器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非React组件集成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埋点与日志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00200"/>
            <a:ext cx="342900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89120" y="1600200"/>
            <a:ext cx="64008" cy="42519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数据请求建议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2130552"/>
            <a:ext cx="313639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简单场景可在Effect中请求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复杂服务端状态建议使用Query库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处理loading/error/empty状态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避免重复请求与竞态条件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00200"/>
            <a:ext cx="333756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00200"/>
            <a:ext cx="64008" cy="425196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常见误区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130552"/>
            <a:ext cx="304495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用Effect编排所有业务数据流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依赖数组缺失导致旧值问题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未清理订阅/定时器</a:t>
            </a:r>
          </a:p>
          <a:p>
            <a:pPr>
              <a:spcAft>
                <a:spcPts val="400"/>
              </a:spcAft>
              <a:defRPr sz="1080">
                <a:solidFill>
                  <a:srgbClr val="AFCDEB"/>
                </a:solidFill>
                <a:latin typeface="Microsoft YaHei"/>
              </a:defRPr>
            </a:pPr>
            <a:r>
              <a:t>• 把派生状态重复存储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9. 路由与项目结构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React本身是UI库，路由和数据获取通常由框架或生态库提供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5120640" cy="45262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45262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4846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推荐目录结构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075688"/>
            <a:ext cx="4663440" cy="3291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D7EEFF"/>
                </a:solidFill>
                <a:latin typeface="Microsoft YaHei"/>
              </a:defRPr>
            </a:pPr>
            <a:r>
              <a:t>src/</a:t>
            </a:r>
            <a:br/>
            <a:r>
              <a:t>├── app/                 # 应用入口与全局配置</a:t>
            </a:r>
            <a:br/>
            <a:r>
              <a:t>├── pages/ or routes/    # 页面/路由</a:t>
            </a:r>
            <a:br/>
            <a:r>
              <a:t>├── components/          # 通用组件</a:t>
            </a:r>
            <a:br/>
            <a:r>
              <a:t>├── features/            # 业务模块</a:t>
            </a:r>
            <a:br/>
            <a:r>
              <a:t>├── hooks/               # 自定义Hooks</a:t>
            </a:r>
            <a:br/>
            <a:r>
              <a:t>├── services/            # API调用</a:t>
            </a:r>
            <a:br/>
            <a:r>
              <a:t>├── stores/              # 状态管理</a:t>
            </a:r>
            <a:br/>
            <a:r>
              <a:t>├── styles/              # 样式与主题</a:t>
            </a:r>
            <a:br/>
            <a:r>
              <a:t>└── tests/               # 测试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1600200"/>
            <a:ext cx="5074920" cy="45262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63640" y="1600200"/>
            <a:ext cx="64008" cy="4526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19088" y="1709928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路由选择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8231" y="2130552"/>
            <a:ext cx="4782312" cy="3931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React Router：常见SPA路由方案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Next.js：文件路由、SSR/SSG、全栈能力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Remix：强调Web标准与数据加载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企业项目建议明确路由层、权限层和布局层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大型项目按业务feature拆分更易维护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10. 性能优化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React性能优化的核心是减少不必要渲染、拆分资源、优化数据和体验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4813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渲染优化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React.memo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useMemo/useCallback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合理拆分组件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避免无意义状态提升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48132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列表优化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稳定key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虚拟列表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分页/懒加载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避免一次渲染大量DOM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48132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资源优化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代码分割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动态import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图片压缩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按需加载组件库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93592"/>
            <a:ext cx="64008" cy="14813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并发体验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useTransition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useDeferredValue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骨架屏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乐观更新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93592"/>
            <a:ext cx="64008" cy="1481328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数据优化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缓存服务端状态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请求去重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预取数据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错误重试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93592"/>
            <a:ext cx="64008" cy="148132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诊断工具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React DevTools Profiler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浏览器Performance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Lighthouse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Web Vitals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Ecosystem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11. React生态地图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React不规定完整应用架构，实际项目通常结合生态工具形成完整方案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4813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构建工具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Vite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Next.js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Webpack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SWC / Babel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48132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UI组件库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MUI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Ant Design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Chakra UI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shadcn/ui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48132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状态管理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Context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Redux Toolkit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Zustand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Jotai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93592"/>
            <a:ext cx="64008" cy="14813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数据请求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Fetch/Axios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TanStack Query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SWR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GraphQL Client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93592"/>
            <a:ext cx="64008" cy="1481328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Vitest/Jest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Testing Library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Playwright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Cypress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93592"/>
            <a:ext cx="64008" cy="148132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质量工具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TypeScript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ESLint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Prettier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Storybook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Compare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12. React 与 Vue / Angular 对比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不同框架侧重点不同，选型应结合团队经验、生态和项目复杂度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1920240" cy="5029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5029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1600200"/>
            <a:ext cx="2834640" cy="5029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697480" y="1600200"/>
            <a:ext cx="64008" cy="5029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52928" y="170992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React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0" y="1600200"/>
            <a:ext cx="2514600" cy="5029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15000" y="1600200"/>
            <a:ext cx="64008" cy="5029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870448" y="170992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Vue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1600200"/>
            <a:ext cx="2926080" cy="5029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412480" y="1600200"/>
            <a:ext cx="64008" cy="5029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67928" y="1709928"/>
            <a:ext cx="2651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Angular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2240280"/>
            <a:ext cx="1920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5800" y="2240280"/>
            <a:ext cx="64008" cy="5029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" y="235000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定位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97480" y="2240280"/>
            <a:ext cx="28346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697480" y="2240280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52928" y="235000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UI库，生态组合灵活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715000" y="2240280"/>
            <a:ext cx="251460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715000" y="2240280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870448" y="235000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渐进式框架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12480" y="2240280"/>
            <a:ext cx="29260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412480" y="2240280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67928" y="2350008"/>
            <a:ext cx="2651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完整企业级框架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5800" y="2926080"/>
            <a:ext cx="1920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85800" y="2926080"/>
            <a:ext cx="64008" cy="5029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1248" y="303580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学习曲线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697480" y="2926080"/>
            <a:ext cx="28346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697480" y="2926080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852928" y="303580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JSX+Hooks需要理解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715000" y="2926080"/>
            <a:ext cx="251460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715000" y="2926080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870448" y="303580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模板语法较直观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412480" y="2926080"/>
            <a:ext cx="29260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412480" y="2926080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567928" y="3035808"/>
            <a:ext cx="2651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概念体系较完整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5800" y="3611880"/>
            <a:ext cx="1920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85800" y="3611880"/>
            <a:ext cx="64008" cy="5029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41248" y="372160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架构自由度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697480" y="3611880"/>
            <a:ext cx="28346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697480" y="3611880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852928" y="372160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高，需要团队规范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715000" y="3611880"/>
            <a:ext cx="251460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715000" y="3611880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870448" y="372160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中高，官方生态较集中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12480" y="3611880"/>
            <a:ext cx="29260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412480" y="3611880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567928" y="3721608"/>
            <a:ext cx="2651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相对固定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85800" y="4297680"/>
            <a:ext cx="1920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85800" y="4297680"/>
            <a:ext cx="64008" cy="5029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" y="440740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生态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697480" y="4297680"/>
            <a:ext cx="28346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697480" y="4297680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852928" y="440740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广泛，选择丰富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715000" y="4297680"/>
            <a:ext cx="251460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5715000" y="4297680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870448" y="440740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成熟，中文生态友好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412480" y="4297680"/>
            <a:ext cx="29260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412480" y="4297680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567928" y="4407408"/>
            <a:ext cx="2651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企业大型应用强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85800" y="4983480"/>
            <a:ext cx="1920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685800" y="4983480"/>
            <a:ext cx="64008" cy="5029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1248" y="509320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适合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697480" y="4983480"/>
            <a:ext cx="28346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2697480" y="4983480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852928" y="509320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灵活复杂UI、组件体系、跨端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715000" y="4983480"/>
            <a:ext cx="251460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5715000" y="4983480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870448" y="509320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快速开发、中小型到大型项目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412480" y="4983480"/>
            <a:ext cx="29260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412480" y="4983480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567928" y="5093208"/>
            <a:ext cx="2651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1">
                <a:solidFill>
                  <a:srgbClr val="F5F8FF"/>
                </a:solidFill>
                <a:latin typeface="Microsoft YaHei"/>
              </a:defRPr>
            </a:pPr>
            <a:r>
              <a:t>强规范大型团队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20" b="1">
                <a:solidFill>
                  <a:srgbClr val="50E6FF"/>
                </a:solidFill>
                <a:latin typeface="Microsoft YaHei"/>
              </a:defRPr>
            </a:pPr>
            <a:r>
              <a:t>建议：React适合需要高度灵活、生态丰富和组件体系沉淀的团队；但也需要团队建立工程规范，避免架构碎片化。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Best Practices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13. React最佳实践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让React项目从可运行走向可维护、可测试、可扩展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4813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组件设计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职责单一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Props清晰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组合优先于继承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抽象不过度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48132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状态管理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状态就近管理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共享状态谨慎提升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服务端状态交给Query库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48132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Hooks规范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只在顶层调用Hook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自定义Hook复用逻辑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依赖数组保持准确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93592"/>
            <a:ext cx="64008" cy="14813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类型与质量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TypeScript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ESLint Hooks规则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Prettier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Code Review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93592"/>
            <a:ext cx="64008" cy="1481328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测试策略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组件测试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用户行为测试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端到端测试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Mock网络请求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93592"/>
            <a:ext cx="64008" cy="148132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性能意识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先测量再优化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关注首屏和交互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避免滥用memo</a:t>
            </a:r>
          </a:p>
          <a:p>
            <a:pPr>
              <a:spcAft>
                <a:spcPts val="400"/>
              </a:spcAft>
              <a:defRPr sz="919">
                <a:solidFill>
                  <a:srgbClr val="AFCDEB"/>
                </a:solidFill>
                <a:latin typeface="Microsoft YaHei"/>
              </a:defRPr>
            </a:pPr>
            <a:r>
              <a:t>• 监控Web Vitals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14. 总结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React的核心价值是用组件化和声明式方式构建复杂交互UI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169164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8680" y="1691640"/>
            <a:ext cx="64008" cy="13258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4127" y="1801368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思想层面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" y="2221992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AFCDEB"/>
                </a:solidFill>
                <a:latin typeface="Microsoft YaHei"/>
              </a:defRPr>
            </a:pPr>
            <a:r>
              <a:t>组件化、声明式、状态驱动UI，是React最核心的开发模型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169164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00800" y="1691640"/>
            <a:ext cx="64008" cy="13258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56248" y="1801368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开发层面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2221992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AFCDEB"/>
                </a:solidFill>
                <a:latin typeface="Microsoft YaHei"/>
              </a:defRPr>
            </a:pPr>
            <a:r>
              <a:t>JSX与Hooks让UI、状态、副作用、复用逻辑组织在函数组件中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356616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8680" y="3566160"/>
            <a:ext cx="64008" cy="13258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4127" y="3675887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工程层面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" y="4096511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AFCDEB"/>
                </a:solidFill>
                <a:latin typeface="Microsoft YaHei"/>
              </a:defRPr>
            </a:pPr>
            <a:r>
              <a:t>React需要结合路由、状态管理、数据请求、测试和构建工具形成完整方案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56616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00800" y="3566160"/>
            <a:ext cx="64008" cy="132588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56248" y="3675887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实践层面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4096511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AFCDEB"/>
                </a:solidFill>
                <a:latin typeface="Microsoft YaHei"/>
              </a:defRPr>
            </a:pPr>
            <a:r>
              <a:t>大型项目成功关键不只是React本身，而是组件规范、状态边界和工程治理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5669280"/>
            <a:ext cx="103327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50E6FF"/>
                </a:solidFill>
                <a:latin typeface="Microsoft YaHei"/>
              </a:defRPr>
            </a:pPr>
            <a:r>
              <a:t>推荐学习路径：组件与JSX → Props/State → Hooks → 路由与数据请求 → 性能优化与工程化。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78308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参考资料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本PPT内容基于React官方文档和API参考整理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600200"/>
            <a:ext cx="10515600" cy="320040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" y="1600200"/>
            <a:ext cx="64008" cy="32004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" y="1709928"/>
            <a:ext cx="10241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主要来源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2130552"/>
            <a:ext cx="10222992" cy="2606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React 官方网站：https://react.dev/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React API Reference：https://react.dev/reference/react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Built-in React Hooks：https://react.dev/reference/react/hooks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React DOM Reference：https://react.dev/reference/react-dom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React Learn：https://react.dev/learn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5074920"/>
            <a:ext cx="10515600" cy="822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2960" y="5074920"/>
            <a:ext cx="64008" cy="8229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8408" y="5184648"/>
            <a:ext cx="10241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备注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5605272"/>
            <a:ext cx="10222992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该PPT用于React框架介绍与技术培训；实际项目中建议结合团队技术栈选择路由、状态管理、UI组件库、测试和部署方案。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Frontend React Framework Introduction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CHUN HUI YU (Harvey)</dc:creator>
  <cp:keywords/>
  <dc:description>generated using python-pptx</dc:description>
  <cp:lastModifiedBy>CHUN HUI YU (Harvey)</cp:lastModifiedBy>
  <cp:revision>2</cp:revision>
  <dcterms:created xsi:type="dcterms:W3CDTF">2026-06-30T07:44:33Z</dcterms:created>
  <dcterms:modified xsi:type="dcterms:W3CDTF">2026-06-30T07:45:26Z</dcterms:modified>
  <cp:category/>
</cp:coreProperties>
</file>