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65" r:id="rId12"/>
    <p:sldId id="279" r:id="rId13"/>
    <p:sldId id="266" r:id="rId14"/>
    <p:sldId id="280" r:id="rId15"/>
    <p:sldId id="281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6"/>
  </p:normalViewPr>
  <p:slideViewPr>
    <p:cSldViewPr snapToGrid="0" snapToObjects="1">
      <p:cViewPr varScale="1">
        <p:scale>
          <a:sx n="112" d="100"/>
          <a:sy n="112" d="100"/>
        </p:scale>
        <p:origin x="6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18320" y="640080"/>
            <a:ext cx="1920240" cy="1920240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4343400"/>
            <a:ext cx="1188720" cy="11887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138160" y="5074920"/>
            <a:ext cx="914400" cy="914400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550408"/>
            <a:ext cx="594360" cy="5943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  <a:latin typeface="Microsoft YaHei"/>
              </a:defRPr>
            </a:pPr>
            <a:r>
              <a:t>AI 知识科普介绍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7543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AE4F6"/>
                </a:solidFill>
                <a:latin typeface="Microsoft YaHei"/>
              </a:defRPr>
            </a:pPr>
            <a:r>
              <a:t>丰富版：概念、技术、应用、治理与企业落地方法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692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D2DCEE"/>
                </a:solidFill>
                <a:latin typeface="Microsoft YaHei"/>
              </a:defRPr>
            </a:pPr>
            <a:r>
              <a:t>适用于：团队培训 / 业务启蒙 / 管理层沟通 / 内部分享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8302752" y="1307592"/>
            <a:ext cx="1005840" cy="594360"/>
          </a:xfrm>
          <a:prstGeom prst="line">
            <a:avLst/>
          </a:prstGeom>
          <a:ln w="15240">
            <a:solidFill>
              <a:srgbClr val="91C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02752" y="1901952"/>
            <a:ext cx="1005840" cy="594360"/>
          </a:xfrm>
          <a:prstGeom prst="line">
            <a:avLst/>
          </a:prstGeom>
          <a:ln w="15240">
            <a:solidFill>
              <a:srgbClr val="91C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08592" y="1307592"/>
            <a:ext cx="960120" cy="457200"/>
          </a:xfrm>
          <a:prstGeom prst="line">
            <a:avLst/>
          </a:prstGeom>
          <a:ln w="15240">
            <a:solidFill>
              <a:srgbClr val="91C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308592" y="1764792"/>
            <a:ext cx="960120" cy="731520"/>
          </a:xfrm>
          <a:prstGeom prst="line">
            <a:avLst/>
          </a:prstGeom>
          <a:ln w="15240">
            <a:solidFill>
              <a:srgbClr val="91C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08592" y="2496312"/>
            <a:ext cx="960120" cy="320040"/>
          </a:xfrm>
          <a:prstGeom prst="line">
            <a:avLst/>
          </a:prstGeom>
          <a:ln w="15240">
            <a:solidFill>
              <a:srgbClr val="91C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68712" y="1764792"/>
            <a:ext cx="822960" cy="521208"/>
          </a:xfrm>
          <a:prstGeom prst="line">
            <a:avLst/>
          </a:prstGeom>
          <a:ln w="15240">
            <a:solidFill>
              <a:srgbClr val="91C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268712" y="2286000"/>
            <a:ext cx="822960" cy="530352"/>
          </a:xfrm>
          <a:prstGeom prst="line">
            <a:avLst/>
          </a:prstGeom>
          <a:ln w="15240">
            <a:solidFill>
              <a:srgbClr val="91C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217152" y="2816352"/>
            <a:ext cx="1051560" cy="1051560"/>
          </a:xfrm>
          <a:prstGeom prst="line">
            <a:avLst/>
          </a:prstGeom>
          <a:ln w="15240">
            <a:solidFill>
              <a:srgbClr val="91C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17152" y="3867912"/>
            <a:ext cx="914400" cy="502920"/>
          </a:xfrm>
          <a:prstGeom prst="line">
            <a:avLst/>
          </a:prstGeom>
          <a:ln w="15240">
            <a:solidFill>
              <a:srgbClr val="91C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131552" y="3822191"/>
            <a:ext cx="914400" cy="548641"/>
          </a:xfrm>
          <a:prstGeom prst="line">
            <a:avLst/>
          </a:prstGeom>
          <a:ln w="15240">
            <a:solidFill>
              <a:srgbClr val="91C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1045952" y="2286000"/>
            <a:ext cx="45720" cy="1536191"/>
          </a:xfrm>
          <a:prstGeom prst="line">
            <a:avLst/>
          </a:prstGeom>
          <a:ln w="15240">
            <a:solidFill>
              <a:srgbClr val="91C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229600" y="1828800"/>
            <a:ext cx="201168" cy="2011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235440" y="1234440"/>
            <a:ext cx="201168" cy="2011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35440" y="2423160"/>
            <a:ext cx="201168" cy="2011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195560" y="1691640"/>
            <a:ext cx="201168" cy="2011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95560" y="2743200"/>
            <a:ext cx="201168" cy="2011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018520" y="2212848"/>
            <a:ext cx="201168" cy="2011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44000" y="3794760"/>
            <a:ext cx="201168" cy="2011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058400" y="4297680"/>
            <a:ext cx="201168" cy="2011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972800" y="3749039"/>
            <a:ext cx="201168" cy="20116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DD7E8"/>
                </a:solidFill>
                <a:latin typeface="Microsoft YaHei"/>
              </a:defRPr>
            </a:pPr>
            <a:r>
              <a:t>AI知识科普 | 丰富版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从“能听懂”到“能判断、能应用、能治理”的完整知识地图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2104" y="157276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581912"/>
            <a:ext cx="4334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AI全景与定义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20824"/>
            <a:ext cx="4764024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667085"/>
                </a:solidFill>
                <a:latin typeface="Microsoft YaHei"/>
              </a:defRPr>
            </a:pPr>
            <a:r>
              <a:t>AI、ML、DL、GenAI、Agent的关系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9944" y="157276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3" y="1581912"/>
            <a:ext cx="4334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核心原理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20824"/>
            <a:ext cx="4764024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667085"/>
                </a:solidFill>
                <a:latin typeface="Microsoft YaHei"/>
              </a:defRPr>
            </a:pPr>
            <a:r>
              <a:t>数据、模型、训练、推理、评估闭环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3464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2104" y="299008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" y="3058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0744" y="2999232"/>
            <a:ext cx="4334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主流技术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438144"/>
            <a:ext cx="4764024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667085"/>
                </a:solidFill>
                <a:latin typeface="Microsoft YaHei"/>
              </a:defRPr>
            </a:pPr>
            <a:r>
              <a:t>Transformer、大模型、多模态、RAG、微调、Agent 与选型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83464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9944" y="299008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9944" y="3058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3" y="2999232"/>
            <a:ext cx="4334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典型场景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438144"/>
            <a:ext cx="4764024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667085"/>
                </a:solidFill>
                <a:latin typeface="Microsoft YaHei"/>
              </a:defRPr>
            </a:pPr>
            <a:r>
              <a:t>办公、研发、客服、数据、运维、行业应用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5196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2104" y="4407408"/>
            <a:ext cx="438912" cy="438912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" y="44759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0744" y="4416552"/>
            <a:ext cx="4334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风险治理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855464"/>
            <a:ext cx="4764024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667085"/>
                </a:solidFill>
                <a:latin typeface="Microsoft YaHei"/>
              </a:defRPr>
            </a:pPr>
            <a:r>
              <a:t>幻觉、隐私、安全、偏见、合规与责任AI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25196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09944" y="4407408"/>
            <a:ext cx="438912" cy="43891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9944" y="44759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3" y="4416552"/>
            <a:ext cx="4334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落地实践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7" y="4855464"/>
            <a:ext cx="4764024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667085"/>
                </a:solidFill>
                <a:latin typeface="Microsoft YaHei"/>
              </a:defRPr>
            </a:pPr>
            <a:r>
              <a:t>提示词、场景选择、ROI、路线图与学习路径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1. AI大图景：它到底是什么？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用一句话理解：AI是用数据和算法，让机器在目标约束下完成“感知、理解、预测、生成、行动”的能力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7432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7824" y="1664207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7327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1673351"/>
            <a:ext cx="1911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传统软件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12264"/>
            <a:ext cx="2340864" cy="3282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人写规则：如果A则B。优点是确定、可解释、可控；缺点是规则爆炸，难以覆盖复杂、模糊、多变的真实世界。适合流程固定、边界清晰的场景。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508760"/>
            <a:ext cx="27432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803904" y="1664207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03904" y="17327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1673351"/>
            <a:ext cx="1911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机器学习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112264"/>
            <a:ext cx="2340864" cy="3282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机器从数据中自动学习规律：喂入样本与反馈，自动形成预测模型，无需把规则写死。擅长分类、预测、推荐、排序；数据质量直接决定效果上限。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508760"/>
            <a:ext cx="26974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729984" y="1664207"/>
            <a:ext cx="438912" cy="438912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9984" y="17327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1673351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生成式AI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112264"/>
            <a:ext cx="2295144" cy="3282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不仅预测类别，还能生成新内容：文本、代码、图片、音频、视频。以自然语言为统一入口，门槛极低；但输出是“概率合理”而非“事实正确”。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1508760"/>
            <a:ext cx="19202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10344" y="1664207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10344" y="17327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行动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58984" y="1673351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AI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8" y="2112264"/>
            <a:ext cx="1517904" cy="3282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085"/>
                </a:solidFill>
                <a:latin typeface="Microsoft YaHei"/>
              </a:defRPr>
            </a:pPr>
            <a:r>
              <a:t>围绕目标自主拆解任务、调用工具、读取资料、执行多步动作并循环反馈。从“回答问题”升级为“完成任务”，但需要权限、护栏与人工监督。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DD7E8"/>
                </a:solidFill>
                <a:latin typeface="Microsoft YaHei"/>
              </a:defRPr>
            </a:pPr>
            <a:r>
              <a:t>参考：NIST AI定义；IBM生成式AI介绍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2. 定义与能力边界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AI强在“模式识别与生成”，弱在“事实保证、价值判断、责任承担”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74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783080"/>
            <a:ext cx="4480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33E"/>
                </a:solidFill>
                <a:latin typeface="Microsoft YaHei"/>
              </a:defRPr>
            </a:pPr>
            <a:r>
              <a:t>AI是基于机器的系统，能够在给定人类目标下，对真实或虚拟环境产生预测、建议或决策。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20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67085"/>
                </a:solidFill>
                <a:latin typeface="Microsoft YaHei"/>
              </a:defRPr>
            </a:pPr>
            <a:r>
              <a:t>理解重点：AI不是“有意识的人”，而是一类基于数据、模型与计算过程的系统能力。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617720"/>
            <a:ext cx="1234440" cy="384048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704588"/>
            <a:ext cx="1234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会出错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4617720"/>
            <a:ext cx="1417320" cy="384048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4704588"/>
            <a:ext cx="1417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需上下文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617720"/>
            <a:ext cx="1234440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4704588"/>
            <a:ext cx="1234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需治理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074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18504" y="157276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1850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4" y="1581912"/>
            <a:ext cx="4242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擅长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020824"/>
            <a:ext cx="467258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30" b="0">
                <a:solidFill>
                  <a:srgbClr val="667085"/>
                </a:solidFill>
                <a:latin typeface="Microsoft YaHei"/>
              </a:defRPr>
            </a:pPr>
            <a:r>
              <a:t>总结提炼、分类打标、生成草稿、改写润色、检索增强问答(RAG)、模式发现、代码辅助、头脑风暴与辅助决策。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834640"/>
            <a:ext cx="5074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18504" y="2990088"/>
            <a:ext cx="438912" cy="438912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18504" y="3058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2999232"/>
            <a:ext cx="4242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不擅长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438144"/>
            <a:ext cx="467258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30" b="0">
                <a:solidFill>
                  <a:srgbClr val="667085"/>
                </a:solidFill>
                <a:latin typeface="Microsoft YaHei"/>
              </a:defRPr>
            </a:pPr>
            <a:r>
              <a:t>保证100%事实正确、承担专业与法律责任、处理极少样本且无规律的任务、理解未言明的真实意图、做高风险终局决策。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251960"/>
            <a:ext cx="50749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18504" y="440740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18504" y="44759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7144" y="4416552"/>
            <a:ext cx="42428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使用原则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855464"/>
            <a:ext cx="467258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30" b="0">
                <a:solidFill>
                  <a:srgbClr val="667085"/>
                </a:solidFill>
                <a:latin typeface="Microsoft YaHei"/>
              </a:defRPr>
            </a:pPr>
            <a:r>
              <a:t>明确目标与成功标准；限定边界与禁区；提供资料与上下文；要求给出引用；保留人工复核；记录过程以便追溯。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DD7E8"/>
                </a:solidFill>
                <a:latin typeface="Microsoft YaHei"/>
              </a:defRPr>
            </a:pPr>
            <a:r>
              <a:t>来源：NIST CSRC Glossary - Artificial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3. AI发展简史：三次关键跃迁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规则驱动 → 数据驱动 → 规模驱动 → 工具/智能体驱动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868680" y="3017520"/>
            <a:ext cx="10424160" cy="0"/>
          </a:xfrm>
          <a:prstGeom prst="line">
            <a:avLst/>
          </a:prstGeom>
          <a:ln w="38100">
            <a:solidFill>
              <a:srgbClr val="BEC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22960" y="2871215"/>
            <a:ext cx="292608" cy="292608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1950s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1945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DD7E8"/>
                </a:solidFill>
                <a:latin typeface="Microsoft YaHei"/>
              </a:defRPr>
            </a:pPr>
            <a:r>
              <a:t>AI概念与图灵测试</a:t>
            </a:r>
          </a:p>
        </p:txBody>
      </p:sp>
      <p:sp>
        <p:nvSpPr>
          <p:cNvPr id="10" name="Oval 9"/>
          <p:cNvSpPr/>
          <p:nvPr/>
        </p:nvSpPr>
        <p:spPr>
          <a:xfrm>
            <a:off x="2880360" y="2871215"/>
            <a:ext cx="292608" cy="292608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77439" y="3364991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1980s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75887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DD7E8"/>
                </a:solidFill>
                <a:latin typeface="Microsoft YaHei"/>
              </a:defRPr>
            </a:pPr>
            <a:r>
              <a:t>专家系统</a:t>
            </a:r>
            <a:br/>
            <a:r>
              <a:t>知识工程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2871215"/>
            <a:ext cx="292608" cy="292608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19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1945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DD7E8"/>
                </a:solidFill>
                <a:latin typeface="Microsoft YaHei"/>
              </a:defRPr>
            </a:pPr>
            <a:r>
              <a:t>深度学习突破</a:t>
            </a:r>
            <a:br/>
            <a:r>
              <a:t>视觉识别</a:t>
            </a:r>
          </a:p>
        </p:txBody>
      </p:sp>
      <p:sp>
        <p:nvSpPr>
          <p:cNvPr id="16" name="Oval 15"/>
          <p:cNvSpPr/>
          <p:nvPr/>
        </p:nvSpPr>
        <p:spPr>
          <a:xfrm>
            <a:off x="6995160" y="2871215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364991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75887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DD7E8"/>
                </a:solidFill>
                <a:latin typeface="Microsoft YaHei"/>
              </a:defRPr>
            </a:pPr>
            <a:r>
              <a:t>Transformer</a:t>
            </a:r>
            <a:br/>
            <a:r>
              <a:t>注意力机制</a:t>
            </a:r>
          </a:p>
        </p:txBody>
      </p:sp>
      <p:sp>
        <p:nvSpPr>
          <p:cNvPr id="19" name="Oval 18"/>
          <p:cNvSpPr/>
          <p:nvPr/>
        </p:nvSpPr>
        <p:spPr>
          <a:xfrm>
            <a:off x="9052560" y="2871215"/>
            <a:ext cx="292608" cy="29260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9640" y="1874519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1945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DD7E8"/>
                </a:solidFill>
                <a:latin typeface="Microsoft YaHei"/>
              </a:defRPr>
            </a:pPr>
            <a:r>
              <a:t>大规模聊天式AI</a:t>
            </a:r>
            <a:br/>
            <a:r>
              <a:t>普及爆发</a:t>
            </a:r>
          </a:p>
        </p:txBody>
      </p:sp>
      <p:sp>
        <p:nvSpPr>
          <p:cNvPr id="22" name="Oval 21"/>
          <p:cNvSpPr/>
          <p:nvPr/>
        </p:nvSpPr>
        <p:spPr>
          <a:xfrm>
            <a:off x="11109960" y="2871215"/>
            <a:ext cx="292608" cy="292608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07040" y="3364991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2024+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675887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DD7E8"/>
                </a:solidFill>
                <a:latin typeface="Microsoft YaHei"/>
              </a:defRPr>
            </a:pPr>
            <a:r>
              <a:t>多模态/Agent</a:t>
            </a:r>
            <a:br/>
            <a:r>
              <a:t>工具调用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12529"/>
                </a:solidFill>
                <a:latin typeface="Microsoft YaHei"/>
              </a:defRPr>
            </a:pPr>
            <a:r>
              <a:t>趋势判断：AI的使用门槛持续降低，但可靠落地的门槛转移到了数据治理、流程集成、安全评估和组织变革。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4. AI如何工作：数据—模型—训练—推理—反馈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这是理解所有AI系统的基础闭环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87451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86384" y="184708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915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56232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147218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收集、清洗、标注、去重与权限管理，决定模型能“看到什么”。数据的覆盖度、质量与时效，直接决定能力上限与偏差。</a:t>
            </a:r>
            <a:br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2514600" y="2423160"/>
            <a:ext cx="411480" cy="292608"/>
          </a:xfrm>
          <a:prstGeom prst="rightArrow">
            <a:avLst/>
          </a:prstGeom>
          <a:solidFill>
            <a:srgbClr val="B4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26080" y="1691640"/>
            <a:ext cx="187451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72384" y="184708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72384" y="1915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185623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295144"/>
            <a:ext cx="147218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算法结构 + 参数规模决定能力上限。结构决定“会做什么”，参数量与训练量影响“学得多深”。</a:t>
            </a:r>
            <a:br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4800600" y="2423160"/>
            <a:ext cx="411480" cy="292608"/>
          </a:xfrm>
          <a:prstGeom prst="rightArrow">
            <a:avLst/>
          </a:prstGeom>
          <a:solidFill>
            <a:srgbClr val="B4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212080" y="1691640"/>
            <a:ext cx="187451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358384" y="184708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58384" y="1915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185623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训练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2295144"/>
            <a:ext cx="147218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用样本与损失函数反复调参，让输出逐步逼近目标，涵盖预训练、微调与对齐(RLHF)等阶段。</a:t>
            </a:r>
            <a:br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7086600" y="2423160"/>
            <a:ext cx="411480" cy="292608"/>
          </a:xfrm>
          <a:prstGeom prst="rightArrow">
            <a:avLst/>
          </a:prstGeom>
          <a:solidFill>
            <a:srgbClr val="B4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98079" y="1691640"/>
            <a:ext cx="187451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644383" y="184708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44383" y="1915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3" y="185623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推理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2295144"/>
            <a:ext cx="147218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面对新输入实时产生预测、建议或内容。企业日常调用大模型，绝大多数发生在推理阶段。</a:t>
            </a:r>
            <a:br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9372600" y="2423160"/>
            <a:ext cx="411480" cy="292608"/>
          </a:xfrm>
          <a:prstGeom prst="rightArrow">
            <a:avLst/>
          </a:prstGeom>
          <a:solidFill>
            <a:srgbClr val="B4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784080" y="1691640"/>
            <a:ext cx="1874519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30384" y="1847088"/>
            <a:ext cx="438912" cy="438912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30384" y="1915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9024" y="185623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反馈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2295144"/>
            <a:ext cx="147218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通过评价、监控与再训练持续修正偏差和风险，形成“越用越好”的闭环。</a:t>
            </a:r>
            <a:br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14400" y="4343400"/>
            <a:ext cx="3017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0704" y="449884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0704" y="456742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9344" y="4507992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训练 vs 推理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4946904"/>
            <a:ext cx="2615184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训练像“学习考试规律”；推理像“现场答题”。企业使用大模型时多数是在推理阶段调用服务。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51960" y="4343400"/>
            <a:ext cx="3017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398264" y="449884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98264" y="456742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46904" y="4507992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参数 vs 知识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128" y="4946904"/>
            <a:ext cx="2615184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参数保存统计模式；事实知识需要靠训练数据、上下文或外部检索共同提供。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89520" y="4343400"/>
            <a:ext cx="3291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735824" y="449884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35824" y="456742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4507992"/>
            <a:ext cx="2459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评估很关键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90688" y="4946904"/>
            <a:ext cx="2889504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不能只看一次演示，要用样本集、边界案例、人工评审和线上监控评估。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5. AI技术栈：从底层算力到业务应用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企业做AI不是只选一个模型，而是构建完整技术栈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1325880"/>
            <a:ext cx="10012680" cy="64008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490472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业务应用层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490472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FFFFFF"/>
                </a:solidFill>
                <a:latin typeface="Microsoft YaHei"/>
              </a:defRPr>
            </a:pPr>
            <a:r>
              <a:t>办公助手、客服助手、研发助手、数据分析、知识管理、流程自动化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194560"/>
            <a:ext cx="1001268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2359152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AI能力层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59152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FFFFFF"/>
                </a:solidFill>
                <a:latin typeface="Microsoft YaHei"/>
              </a:defRPr>
            </a:pPr>
            <a:r>
              <a:t>大语言模型、多模态模型、向量检索、RAG、Agent、内容安全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063239"/>
            <a:ext cx="10012680" cy="640080"/>
          </a:xfrm>
          <a:prstGeom prst="round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3227832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工程平台层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227832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FFFFFF"/>
                </a:solidFill>
                <a:latin typeface="Microsoft YaHei"/>
              </a:defRPr>
            </a:pPr>
            <a:r>
              <a:t>API网关、权限、日志、评估、监控、成本管理、A/B测试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931920"/>
            <a:ext cx="10012680" cy="64008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4096511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数据与知识层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096511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FFFFFF"/>
                </a:solidFill>
                <a:latin typeface="Microsoft YaHei"/>
              </a:defRPr>
            </a:pPr>
            <a:r>
              <a:t>结构化数据、文档库、知识图谱、元数据、数据治理、脱敏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800600"/>
            <a:ext cx="10012680" cy="640080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4965192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965192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FFFFFF"/>
                </a:solidFill>
                <a:latin typeface="Microsoft YaHei"/>
              </a:defRPr>
            </a:pPr>
            <a:r>
              <a:t>云平台、GPU/CPU、存储、网络、安全、灾备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6. 机器学习任务类型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不同业务问题，对应不同学习范式和评估指标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23544" y="161848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6870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162763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监督学习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66544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数据特点：有输入和正确答案</a:t>
            </a:r>
            <a:br/>
            <a:r>
              <a:t>典型应用：分类、回归、风险评分</a:t>
            </a:r>
            <a:br/>
            <a:r>
              <a:t>常用指标：准确率、召回率、AUC、MAE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9944" y="161848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6870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3" y="162763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无监督学习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66544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数据特点：只有数据，无标准答案</a:t>
            </a:r>
            <a:br/>
            <a:r>
              <a:t>典型应用：聚类、异常发现、主题识别</a:t>
            </a:r>
            <a:br/>
            <a:r>
              <a:t>常用指标：轮廓系数、稳定性、业务解释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375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44" y="349300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2184" y="350215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强化学习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41063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数据特点：通过奖励学习行动策略</a:t>
            </a:r>
            <a:br/>
            <a:r>
              <a:t>典型应用：推荐排序、机器人、游戏、资源调度</a:t>
            </a:r>
            <a:br/>
            <a:r>
              <a:t>常用指标：奖励、成功率、长期收益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375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9944" y="349300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994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3" y="350215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自监督学习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941063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数据特点：从原始数据构造训练信号</a:t>
            </a:r>
            <a:br/>
            <a:r>
              <a:t>典型应用：大语言模型、视觉预训练</a:t>
            </a:r>
            <a:br/>
            <a:r>
              <a:t>常用指标：下游任务表现、困惑度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7. 生成式AI核心机制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大模型通过预测下一个Token来生成连贯内容，但“连贯”不等于“真实”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7432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7824" y="157276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1581912"/>
            <a:ext cx="1911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Token化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0824"/>
            <a:ext cx="2340864" cy="355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文本先被切分成 Token(词/子词/字符片段)。模型看到的是 Token 序列而非整篇文章；中文约 1 字≈1-2 Token，上下文与计费都按 Token 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417320"/>
            <a:ext cx="27432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849624" y="157276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962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581912"/>
            <a:ext cx="1911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上下文窗口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487" y="2020824"/>
            <a:ext cx="2340864" cy="355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模型一次能参考的 Token 数量有限。上下文越聚焦，输出越可控；过长会稀释重点、增加成本，关键信息建议前置。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417320"/>
            <a:ext cx="22402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821424" y="1572768"/>
            <a:ext cx="438912" cy="438912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2142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4" y="1581912"/>
            <a:ext cx="1408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概率生成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020824"/>
            <a:ext cx="1837944" cy="355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模型按概率采样下一个 Token，同一问题可能得到不同答案。温度(temperature)越高越发散，越低越稳定确定。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417320"/>
            <a:ext cx="2286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290304" y="157276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38944" y="1581912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对齐与安全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020824"/>
            <a:ext cx="1883664" cy="355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通过指令微调、人类反馈强化学习(RLHF)、系统提示与安全策略，让输出更符合人类意图与安全规范。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DD7E8"/>
                </a:solidFill>
                <a:latin typeface="Microsoft YaHei"/>
              </a:defRPr>
            </a:pPr>
            <a:r>
              <a:t>参考：IBM Generative AI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8. 多模态AI：同时理解文本、图像、语音与视频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统一向量表示 + 跨模态对齐，让模型在不同信息形态间自由转换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23544" y="161848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6870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162763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文本与代码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66544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理解与生成自然语言、文档、代码；当前最成熟、应用最广的模态，是大多数助手的核心。</a:t>
            </a:r>
            <a:br/>
            <a:br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9944" y="161848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6870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3" y="162763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图像与视觉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66544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图像理解(看图答题/OCR/检测)与图像生成(文生图/图生图)，用于设计、质检、识别。</a:t>
            </a:r>
            <a:br/>
            <a:br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33375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44" y="349300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2184" y="350215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语音与音频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41063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语音识别(ASR)、语音合成(TTS)与声音理解，支撑会议转写、语音助手、客服质检。</a:t>
            </a:r>
            <a:br/>
            <a:br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63640" y="33375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9944" y="349300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994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3" y="350215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视频与跨模态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941063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视频理解与生成、图文混合问答；统一表示让“以文搜图、以图搜视频”成为可能。</a:t>
            </a:r>
            <a:br/>
            <a:br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9. RAG：让AI基于企业知识回答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检索增强生成 = 先找资料，再基于资料回答，是企业知识问答常用架构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2104" y="2029967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20985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2039112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用户问题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78024"/>
            <a:ext cx="147218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t>自然语言输入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51176" y="2487168"/>
            <a:ext cx="384048" cy="274320"/>
          </a:xfrm>
          <a:prstGeom prst="rightArrow">
            <a:avLst/>
          </a:prstGeom>
          <a:solidFill>
            <a:srgbClr val="AF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53512" y="1874519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99816" y="2029967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9816" y="20985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039112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478024"/>
            <a:ext cx="147218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t>向量/关键词搜索相关文档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18888" y="2487168"/>
            <a:ext cx="384048" cy="274320"/>
          </a:xfrm>
          <a:prstGeom prst="rightArrow">
            <a:avLst/>
          </a:prstGeom>
          <a:solidFill>
            <a:srgbClr val="AF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221224" y="1874519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367528" y="2029967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67528" y="20985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203911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重排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2478024"/>
            <a:ext cx="147218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t>筛选最相关片段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86600" y="2487168"/>
            <a:ext cx="384048" cy="274320"/>
          </a:xfrm>
          <a:prstGeom prst="rightArrow">
            <a:avLst/>
          </a:prstGeom>
          <a:solidFill>
            <a:srgbClr val="AF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88936" y="1874519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635240" y="2029967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35240" y="20985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03911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2478024"/>
            <a:ext cx="147218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t>把资料与问题交给模型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54312" y="2487168"/>
            <a:ext cx="384048" cy="274320"/>
          </a:xfrm>
          <a:prstGeom prst="rightArrow">
            <a:avLst/>
          </a:prstGeom>
          <a:solidFill>
            <a:srgbClr val="AF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756648" y="1874519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02952" y="2029967"/>
            <a:ext cx="438912" cy="438912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02952" y="20985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1592" y="203911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引用/反馈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7816" y="2478024"/>
            <a:ext cx="147218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67085"/>
                </a:solidFill>
                <a:latin typeface="Microsoft YaHei"/>
              </a:defRPr>
            </a:pPr>
            <a:r>
              <a:t>输出答案、来源和改进信号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251960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0704" y="440740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0704" y="44759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9344" y="4416552"/>
            <a:ext cx="3968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适合RAG的场景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4855464"/>
            <a:ext cx="43982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085"/>
                </a:solidFill>
                <a:latin typeface="Microsoft YaHei"/>
              </a:defRPr>
            </a:pPr>
            <a:r>
              <a:t>政策制度问答、技术文档助手、售前与客服知识库、项目资料检索、审计材料查询、产品手册答疑——知识更新快、需可溯源引用的场景。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251960"/>
            <a:ext cx="4800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547104" y="4407408"/>
            <a:ext cx="438912" cy="43891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47104" y="44759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5744" y="4416552"/>
            <a:ext cx="3968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RAG的限制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1968" y="4855464"/>
            <a:ext cx="439826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7085"/>
                </a:solidFill>
                <a:latin typeface="Microsoft YaHei"/>
              </a:defRPr>
            </a:pPr>
            <a:r>
              <a:t>资料过期、权限混乱、切片质量差、检索召回不足、问题歧义，都会导致错误答案。需要数据治理、切片与检索调优、引用核验与持续评估。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10. AI Agent 深入：从“回答问题”到“完成任务”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Agent = 大模型(大脑) + 规划 + 记忆 + 工具 + 反馈循环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23544" y="161848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6870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162763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规划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66544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把目标拆成可执行的子任务，决定先做什么、用什么工具、如何编排步骤与顺序。</a:t>
            </a:r>
            <a:br/>
            <a:br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9944" y="161848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6870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3" y="162763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记忆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66544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短期记忆维持对话与中间结果，长期记忆沉淀经验与知识，支撑跨步骤连贯。</a:t>
            </a:r>
            <a:br/>
            <a:br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33375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44" y="349300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2184" y="350215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工具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41063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调用搜索、数据库、代码执行、API、RAG 等外部能力，突破模型自身边界。</a:t>
            </a:r>
            <a:br/>
            <a:br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63640" y="33375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9944" y="349300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994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3" y="350215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执行与反思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941063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执行动作→观察结果→自我反思纠错→必要时重试；高风险动作需人工确认与护栏。</a:t>
            </a:r>
            <a:br/>
            <a:br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11. 提示词工程：可复用的写法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074920" cy="4343400"/>
          </a:xfrm>
          <a:prstGeom prst="round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737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CD4"/>
                </a:solidFill>
                <a:latin typeface="Microsoft YaHei"/>
              </a:defRPr>
            </a:pPr>
            <a:r>
              <a:t>示例模板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48840"/>
            <a:ext cx="4434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你是一名【角色</a:t>
            </a:r>
            <a:r>
              <a:rPr dirty="0"/>
              <a:t>】。</a:t>
            </a:r>
            <a:r>
              <a:rPr dirty="0" err="1"/>
              <a:t>请基于【背景资料】完成【任务目标</a:t>
            </a:r>
            <a:r>
              <a:rPr dirty="0"/>
              <a:t>】。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要求</a:t>
            </a:r>
            <a:r>
              <a:rPr dirty="0"/>
              <a:t>：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1) </a:t>
            </a:r>
            <a:r>
              <a:rPr dirty="0" err="1"/>
              <a:t>输出面向【受众</a:t>
            </a:r>
            <a:r>
              <a:rPr dirty="0"/>
              <a:t>】，</a:t>
            </a:r>
            <a:r>
              <a:rPr dirty="0" err="1"/>
              <a:t>语气【风格</a:t>
            </a:r>
            <a:r>
              <a:rPr dirty="0"/>
              <a:t>】；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2) </a:t>
            </a:r>
            <a:r>
              <a:rPr dirty="0" err="1"/>
              <a:t>必须包含【关键点</a:t>
            </a:r>
            <a:r>
              <a:rPr dirty="0"/>
              <a:t>】，</a:t>
            </a:r>
            <a:r>
              <a:rPr dirty="0" err="1"/>
              <a:t>避免【禁区</a:t>
            </a:r>
            <a:r>
              <a:rPr dirty="0"/>
              <a:t>】；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3) </a:t>
            </a:r>
            <a:r>
              <a:rPr dirty="0" err="1"/>
              <a:t>先列要点再展开，用【格式】呈现</a:t>
            </a:r>
            <a:r>
              <a:rPr dirty="0"/>
              <a:t>；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4) </a:t>
            </a:r>
            <a:r>
              <a:rPr dirty="0" err="1"/>
              <a:t>引用所依据的资料出处</a:t>
            </a:r>
            <a:r>
              <a:rPr dirty="0"/>
              <a:t>；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5) </a:t>
            </a:r>
            <a:r>
              <a:rPr dirty="0" err="1"/>
              <a:t>最后列出【假设</a:t>
            </a:r>
            <a:r>
              <a:rPr dirty="0"/>
              <a:t> / </a:t>
            </a:r>
            <a:r>
              <a:rPr dirty="0" err="1"/>
              <a:t>风险</a:t>
            </a:r>
            <a:r>
              <a:rPr dirty="0"/>
              <a:t> / </a:t>
            </a:r>
            <a:r>
              <a:rPr dirty="0" err="1"/>
              <a:t>待确认项</a:t>
            </a:r>
            <a:r>
              <a:rPr dirty="0"/>
              <a:t>】。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13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C1E0F8E-0A4F-DAB7-24E6-E6E3563F7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796796"/>
            <a:ext cx="4978400" cy="3708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12. 定制方式选型：提示词 vs RAG vs 微调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先用最轻的方式，解决不了再升级；三者也可组合使用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23544" y="161848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6870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162763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提示词工程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66544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适合通用任务与快速试错。成本最低、当天见效；不改模型，靠清晰指令与示例引导。</a:t>
            </a:r>
            <a:br/>
            <a:br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9944" y="161848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6870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3" y="162763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RAG 检索增强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66544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适合基于企业知识/最新资料问答。资料可更新、可溯源，解决“模型不知道你的数据”。</a:t>
            </a:r>
            <a:br/>
            <a:br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33375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44" y="349300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2184" y="350215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微调 Fine-tuning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41063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适合固定风格/格式、专有任务、压缩提示。需高质量标注数据，成本与维护更高。</a:t>
            </a:r>
            <a:br/>
            <a:br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63640" y="33375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9944" y="349300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994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3" y="350215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决策建议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941063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默认提示词 → 需私有知识加 RAG → 需稳定风格/能力再微调。先验证价值，再投重资产。</a:t>
            </a:r>
            <a:br/>
            <a:br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13. 模型选型与成本优化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不是越大越好：按场景在能力、成本、延迟与合规间权衡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23544" y="161848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6870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162763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开源 vs 闭源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66544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闭源(API)起步快、能力强、免运维；开源可私有化部署、数据可控、长期成本可优化。</a:t>
            </a:r>
            <a:br/>
            <a:br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9944" y="161848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6870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3" y="162763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参数与能力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66544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大模型更强但更贵更慢，小模型快而省。简单任务用小模型，复杂推理用大模型。</a:t>
            </a:r>
            <a:br/>
            <a:br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33375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44" y="349300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2184" y="350215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成本构成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941063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主要是 Token 调用费(输入+输出) + 部署/GPU + 数据治理 + 集成与监控。</a:t>
            </a:r>
            <a:br/>
            <a:br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63640" y="333756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9944" y="349300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994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3" y="350215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优化手段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941063"/>
            <a:ext cx="458114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模型分级路由、提示精简、缓存复用、RAG 缩短上下文、批处理与流式，按需选模型。</a:t>
            </a:r>
            <a:br/>
            <a:br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14. 典型应用场景：从个人效率到流程重塑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先做“助手”，再做“自动化”，最终进入“智能协作流程”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2104" y="157276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581912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办公与知识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20824"/>
            <a:ext cx="29352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70" b="0">
                <a:solidFill>
                  <a:srgbClr val="667085"/>
                </a:solidFill>
                <a:latin typeface="Microsoft YaHei"/>
              </a:defRPr>
            </a:pPr>
            <a:r>
              <a:t>会议纪要、邮件起草、PPT 生成、文档总结、制度问答、知识检索。成熟度：低风险、快见效，适合全员普及第一站。</a:t>
            </a:r>
            <a:br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337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72584" y="157276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7258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1581912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研发工程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020824"/>
            <a:ext cx="29352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70" b="0">
                <a:solidFill>
                  <a:srgbClr val="667085"/>
                </a:solidFill>
                <a:latin typeface="Microsoft YaHei"/>
              </a:defRPr>
            </a:pPr>
            <a:r>
              <a:t>代码生成与补全、代码评审、单元测试、技术文档、缺陷定位。成熟度：效率提升明显，需人工把关与安全扫描。</a:t>
            </a:r>
            <a:br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66760" y="1417320"/>
            <a:ext cx="3337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13064" y="157276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1306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1581912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客服运营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020824"/>
            <a:ext cx="29352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70" b="0">
                <a:solidFill>
                  <a:srgbClr val="667085"/>
                </a:solidFill>
                <a:latin typeface="Microsoft YaHei"/>
              </a:defRPr>
            </a:pPr>
            <a:r>
              <a:t>智能问答、工单摘要、话术建议、质检分析、知识库维护。成熟度：需知识库与质检闭环支撑。</a:t>
            </a:r>
            <a:br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5800" y="3383280"/>
            <a:ext cx="3337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2104" y="353872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" y="360730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744" y="3547872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数据分析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986784"/>
            <a:ext cx="29352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70" b="0">
                <a:solidFill>
                  <a:srgbClr val="667085"/>
                </a:solidFill>
                <a:latin typeface="Microsoft YaHei"/>
              </a:defRPr>
            </a:pPr>
            <a:r>
              <a:t>自然语言取数、报表解读、异常归因、数据洞察、SQL 生成。成熟度：需统一数据口径与权限治理。</a:t>
            </a:r>
            <a:br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526280" y="3383280"/>
            <a:ext cx="3337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72584" y="3538728"/>
            <a:ext cx="438912" cy="438912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2584" y="360730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3547872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IT运维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3986784"/>
            <a:ext cx="29352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70" b="0">
                <a:solidFill>
                  <a:srgbClr val="667085"/>
                </a:solidFill>
                <a:latin typeface="Microsoft YaHei"/>
              </a:defRPr>
            </a:pPr>
            <a:r>
              <a:t>日志分析、告警归因、根因定位、脚本与配置生成。成熟度：需权限、审计与变更控制。</a:t>
            </a:r>
            <a:br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366760" y="3383280"/>
            <a:ext cx="3337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513064" y="3538728"/>
            <a:ext cx="438912" cy="43891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13064" y="360730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3547872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行业流程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67928" y="3986784"/>
            <a:ext cx="29352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70" b="0">
                <a:solidFill>
                  <a:srgbClr val="667085"/>
                </a:solidFill>
                <a:latin typeface="Microsoft YaHei"/>
              </a:defRPr>
            </a:pPr>
            <a:r>
              <a:t>金融风控、医疗辅助、制造质检、合规审查等核心流程。成熟度：高价值、高治理要求，需严格验证。</a:t>
            </a:r>
            <a:br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15. 行业落地示例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不同领域的AI价值点不同：降本、增效、提质、创新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292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7824" y="148132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49907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1490472"/>
            <a:ext cx="4197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金融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29384"/>
            <a:ext cx="462686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智能投研、反欺诈、合规审查、客户经理助手</a:t>
            </a:r>
            <a:br/>
            <a:r>
              <a:t>重点：可解释、审计、合规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0292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64224" y="148132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49907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1490472"/>
            <a:ext cx="4197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制造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29384"/>
            <a:ext cx="462686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视觉质检、预测性维护、工艺参数优化、供应链预测</a:t>
            </a:r>
            <a:br/>
            <a:r>
              <a:t>重点：边缘部署、稳定性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34639"/>
            <a:ext cx="50292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77824" y="2990087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3058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2999232"/>
            <a:ext cx="4197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医疗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438144"/>
            <a:ext cx="462686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临床文档、影像辅助、药物发现、患者随访</a:t>
            </a:r>
            <a:br/>
            <a:r>
              <a:t>重点：临床验证与责任边界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34639"/>
            <a:ext cx="50292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64224" y="2990087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4" y="3058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2999232"/>
            <a:ext cx="4197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教育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438144"/>
            <a:ext cx="462686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个性化辅导、作业反馈、教师备课、学习分析</a:t>
            </a:r>
            <a:br/>
            <a:r>
              <a:t>重点：公平性与未成年人保护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43400"/>
            <a:ext cx="50292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7824" y="4498848"/>
            <a:ext cx="438912" cy="438912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" y="456742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6464" y="4507992"/>
            <a:ext cx="4197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零售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946904"/>
            <a:ext cx="462686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需求预测、智能导购、营销内容、库存优化</a:t>
            </a:r>
            <a:br/>
            <a:r>
              <a:t>重点：数据闭环与用户体验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343400"/>
            <a:ext cx="502920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364224" y="4498848"/>
            <a:ext cx="438912" cy="43891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64224" y="456742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2864" y="4507992"/>
            <a:ext cx="4197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政企服务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946904"/>
            <a:ext cx="462686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政策问答、文档审核、热线分流、知识库助手</a:t>
            </a:r>
            <a:br/>
            <a:r>
              <a:t>重点：安全、隐私、可追溯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16. 2026趋势：AI正在进入规模化采用阶段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能力提升、投资扩张、采用加速，同时治理和教育体系面临压力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7824" y="1664207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7327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88%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1673351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受访组织已采用AI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12264"/>
            <a:ext cx="2112264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Stanford AI Index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50876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58184" y="1664207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58184" y="17327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673351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组织在至少一个业务职能使用生成式AI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112264"/>
            <a:ext cx="2112264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Stanford AI Index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50876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38544" y="1664207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38544" y="17327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53%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3" y="1673351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生成式AI约三年达到采用率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7" y="2112264"/>
            <a:ext cx="2112264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Stanford AI Index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50876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18904" y="1664207"/>
            <a:ext cx="438912" cy="43891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18904" y="17327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362起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7544" y="1673351"/>
            <a:ext cx="1682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2025年被记录的AI安全事件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112264"/>
            <a:ext cx="2112264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67085"/>
                </a:solidFill>
                <a:latin typeface="Microsoft YaHei"/>
              </a:defRPr>
            </a:pPr>
            <a:r>
              <a:t>Stanford AI Index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319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解读：AI不再只是技术团队的试验品，而是在业务、组织、风险和人才层面同时产生影响。企业需要从“工具试用”升级为“体系化能力建设”。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DD7E8"/>
                </a:solidFill>
                <a:latin typeface="Microsoft YaHei"/>
              </a:defRPr>
            </a:pPr>
            <a:r>
              <a:t>来源：Stanford HAI 2026 AI Index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17. 如何衡量AI价值：不要只看“省了多少时间”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建议同时评估效率、质量、成本、风险与体验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2104" y="175564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82422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764792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效率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03704"/>
            <a:ext cx="1472184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任务耗时、自动化率、响应时间、吞吐量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3512" y="160020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99816" y="175564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182422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1764792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203704"/>
            <a:ext cx="1472184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准确率、一次通过率、缺陷率、客户满意度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160020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67528" y="175564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7528" y="182422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176479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2203704"/>
            <a:ext cx="1472184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模型调用成本、人力成本、返工成本、运维成本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88936" y="160020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635240" y="1755648"/>
            <a:ext cx="438912" cy="438912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35240" y="182422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176479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0104" y="2203704"/>
            <a:ext cx="1472184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隐私泄露、错误决策、越权操作、合规审计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6648" y="160020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902952" y="175564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02952" y="182422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1592" y="1764792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体验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7816" y="2203704"/>
            <a:ext cx="1472184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员工接受度、学习曲线、可解释性、可控感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251960"/>
            <a:ext cx="10241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60704" y="4407408"/>
            <a:ext cx="438912" cy="438912"/>
          </a:xfrm>
          <a:prstGeom prst="ellipse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0704" y="44759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ROI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9344" y="4416552"/>
            <a:ext cx="9409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ROI计算思路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4855464"/>
            <a:ext cx="983894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收益 = 节省时间 × 人力成本 + 质量提升价值 + 新收入机会；成本 = 平台/模型费用 + 数据治理 + 集成开发 + 培训与监控。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18. AI风险全景：从技术风险到组织风险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风险不是阻碍创新，而是帮助我们把AI用在正确边界内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C69D4"/>
                </a:solidFill>
                <a:latin typeface="Microsoft YaHei"/>
              </a:defRPr>
            </a:pPr>
            <a:r>
              <a:t>准确性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463039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幻觉、过期信息、上下文遗漏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63039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引用来源、RAG、人工复核、基准测试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58568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BCD4"/>
                </a:solidFill>
                <a:latin typeface="Microsoft YaHei"/>
              </a:defRPr>
            </a:pPr>
            <a:r>
              <a:t>隐私安全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42316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敏感信息输入、数据泄露、提示注入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231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数据分级、脱敏、权限、内容安全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18688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3832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5E35B1"/>
                </a:solidFill>
                <a:latin typeface="Microsoft YaHei"/>
              </a:defRPr>
            </a:pPr>
            <a:r>
              <a:t>公平偏见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38328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对人群、地区、语言的系统性偏差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3832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代表性数据、公平性测试、申诉机制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78808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3434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57C00"/>
                </a:solidFill>
                <a:latin typeface="Microsoft YaHei"/>
              </a:defRPr>
            </a:pPr>
            <a:r>
              <a:t>可解释性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34340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难以说明为什么得出结论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3434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可追溯日志、解释说明、模型卡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38928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32F2F"/>
                </a:solidFill>
                <a:latin typeface="Microsoft YaHei"/>
              </a:defRPr>
            </a:pPr>
            <a:r>
              <a:t>组织依赖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30352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12529"/>
                </a:solidFill>
                <a:latin typeface="Microsoft YaHei"/>
              </a:defRPr>
            </a:pPr>
            <a:r>
              <a:t>员工过度信任或技能退化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3035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Microsoft YaHei"/>
              </a:defRPr>
            </a:pPr>
            <a:r>
              <a:t>培训、双人复核、关键岗位保留人工判断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DD7E8"/>
                </a:solidFill>
                <a:latin typeface="Microsoft YaHei"/>
              </a:defRPr>
            </a:pPr>
            <a:r>
              <a:t>参考：NIST AI RMF；UNESCO AI Ethics 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19. 负责任AI框架：原则要落到流程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责任AI的目标是建立“可信、可控、可问责”的AI系统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7824" y="148132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49907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1490472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公平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29384"/>
            <a:ext cx="28437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避免系统性歧视与不合理差异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32588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72584" y="148132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72584" y="1549907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1490472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可靠与安全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1929384"/>
            <a:ext cx="28437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在预期场景中稳定运行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2588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67344" y="148132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67344" y="1549907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1490472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隐私与安全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1929384"/>
            <a:ext cx="28437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保护数据、身份与系统边界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92608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08152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15010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3090672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透明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529584"/>
            <a:ext cx="28437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说明AI能力、限制与使用范围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292608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72584" y="3081528"/>
            <a:ext cx="438912" cy="438912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72584" y="315010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3090672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问责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3529584"/>
            <a:ext cx="28437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明确谁负责、如何审计与纠错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926080"/>
            <a:ext cx="3246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467344" y="3081528"/>
            <a:ext cx="438912" cy="43891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315010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5984" y="3090672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包容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529584"/>
            <a:ext cx="284378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667085"/>
                </a:solidFill>
                <a:latin typeface="Microsoft YaHei"/>
              </a:defRPr>
            </a:pPr>
            <a:r>
              <a:t>关注可访问性与不同用户群体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" y="4892040"/>
            <a:ext cx="100126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52144" y="5047488"/>
            <a:ext cx="438912" cy="438912"/>
          </a:xfrm>
          <a:prstGeom prst="ellipse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52144" y="51160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流程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0784" y="5056631"/>
            <a:ext cx="9180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落地方式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7008" y="5495544"/>
            <a:ext cx="9610344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把原则嵌入需求评审、数据评审、模型评估、上线审批、监控告警、事故响应和用户反馈流程。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DD7E8"/>
                </a:solidFill>
                <a:latin typeface="Microsoft YaHei"/>
              </a:defRPr>
            </a:pPr>
            <a:r>
              <a:t>来源：Microsoft Responsible AI principles / Standard v2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20. 企业AI治理运营模型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NIST AI RMF将风险管理组织为 Govern、Map、Measure、Manage 四类核心功能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4983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14983" y="1664207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3" y="17327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3624" y="1673351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Govern 治理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112264"/>
            <a:ext cx="458114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30" b="0">
                <a:solidFill>
                  <a:srgbClr val="667085"/>
                </a:solidFill>
                <a:latin typeface="Microsoft YaHei"/>
              </a:defRPr>
            </a:pPr>
            <a:r>
              <a:t>制度、角色、责任、文化、供应链与第三方管理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4983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01384" y="1664207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1384" y="17327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0024" y="1673351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Map 映射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112264"/>
            <a:ext cx="458114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30" b="0">
                <a:solidFill>
                  <a:srgbClr val="667085"/>
                </a:solidFill>
                <a:latin typeface="Microsoft YaHei"/>
              </a:defRPr>
            </a:pPr>
            <a:r>
              <a:t>明确场景、用户、环境、收益、风险和影响对象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37560"/>
            <a:ext cx="4983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4983" y="349300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3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63624" y="350215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Measure 测量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3941063"/>
            <a:ext cx="458114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30" b="0">
                <a:solidFill>
                  <a:srgbClr val="667085"/>
                </a:solidFill>
                <a:latin typeface="Microsoft YaHei"/>
              </a:defRPr>
            </a:pPr>
            <a:r>
              <a:t>用定性/定量方法测试准确性、安全性、公平性等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337560"/>
            <a:ext cx="4983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01384" y="349300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0138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502152"/>
            <a:ext cx="4151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Manage 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3941063"/>
            <a:ext cx="458114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30" b="0">
                <a:solidFill>
                  <a:srgbClr val="667085"/>
                </a:solidFill>
                <a:latin typeface="Microsoft YaHei"/>
              </a:defRPr>
            </a:pPr>
            <a:r>
              <a:t>根据风险优先级采取缓解、监控、沟通和响应措施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DD7E8"/>
                </a:solidFill>
                <a:latin typeface="Microsoft YaHei"/>
              </a:defRPr>
            </a:pPr>
            <a:r>
              <a:t>来源：NIST AI Risk Management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21. 企业落地路线图：从PoC到规模化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建议采用“低风险场景先行 + 中台能力沉淀 + 治理同步建设”的策略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90195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86384" y="184708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915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56232"/>
            <a:ext cx="1069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场景筛选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1499616" cy="163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0-2周</a:t>
            </a:r>
            <a:br/>
            <a:r>
              <a:t>访谈痛点、评估价值/风险/数据准备度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42032" y="2697480"/>
            <a:ext cx="384048" cy="274320"/>
          </a:xfrm>
          <a:prstGeom prst="rightArrow">
            <a:avLst/>
          </a:prstGeom>
          <a:solidFill>
            <a:srgbClr val="AF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26080" y="1691640"/>
            <a:ext cx="190195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72384" y="184708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72384" y="1915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1856232"/>
            <a:ext cx="1069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PoC验证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295144"/>
            <a:ext cx="1499616" cy="163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2-6周</a:t>
            </a:r>
            <a:br/>
            <a:r>
              <a:t>小样本验证准确性、效率、用户接受度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28032" y="2697480"/>
            <a:ext cx="384048" cy="274320"/>
          </a:xfrm>
          <a:prstGeom prst="rightArrow">
            <a:avLst/>
          </a:prstGeom>
          <a:solidFill>
            <a:srgbClr val="AF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212080" y="1691640"/>
            <a:ext cx="190195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358384" y="184708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58384" y="1915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1856232"/>
            <a:ext cx="1069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试点上线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2295144"/>
            <a:ext cx="1499616" cy="163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6-12周</a:t>
            </a:r>
            <a:br/>
            <a:r>
              <a:t>接入真实流程、权限、日志、监控和反馈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14032" y="2697480"/>
            <a:ext cx="384048" cy="274320"/>
          </a:xfrm>
          <a:prstGeom prst="rightArrow">
            <a:avLst/>
          </a:prstGeom>
          <a:solidFill>
            <a:srgbClr val="AF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98079" y="1691640"/>
            <a:ext cx="190195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644383" y="184708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44383" y="1915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3" y="1856232"/>
            <a:ext cx="1069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规模复制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2295144"/>
            <a:ext cx="1499616" cy="163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3-6月</a:t>
            </a:r>
            <a:br/>
            <a:r>
              <a:t>沉淀组件、模板、知识库和评估集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00032" y="2697480"/>
            <a:ext cx="384048" cy="274320"/>
          </a:xfrm>
          <a:prstGeom prst="rightArrow">
            <a:avLst/>
          </a:prstGeom>
          <a:solidFill>
            <a:srgbClr val="AF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784080" y="1691640"/>
            <a:ext cx="190195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30384" y="1847088"/>
            <a:ext cx="438912" cy="438912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30384" y="191566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9024" y="1856232"/>
            <a:ext cx="1069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治理优化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2295144"/>
            <a:ext cx="1499616" cy="163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持续</a:t>
            </a:r>
            <a:br/>
            <a:r>
              <a:t>成本、质量、安全、合规持续运营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800600"/>
            <a:ext cx="10241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0704" y="4956048"/>
            <a:ext cx="438912" cy="438912"/>
          </a:xfrm>
          <a:prstGeom prst="ellipse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0704" y="502462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评分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9344" y="4965192"/>
            <a:ext cx="9409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选场景评分维度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5404104"/>
            <a:ext cx="983894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667085"/>
                </a:solidFill>
                <a:latin typeface="Microsoft YaHei"/>
              </a:defRPr>
            </a:pPr>
            <a:r>
              <a:t>业务价值 × 使用频率 × 数据可得性 × 风险可控性 × 集成复杂度 × 用户意愿。优先选择高频、低风险、可衡量的任务。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22. AI术语速查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让非技术同事快速理解常见词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2104" y="1572768"/>
            <a:ext cx="438912" cy="438912"/>
          </a:xfrm>
          <a:prstGeom prst="ellipse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581912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20824"/>
            <a:ext cx="19293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大语言模型，擅长理解和生成文本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1732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21024" y="1572768"/>
            <a:ext cx="438912" cy="438912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2102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9663" y="1581912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020824"/>
            <a:ext cx="19293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模型处理文本的基本单位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9944" y="1572768"/>
            <a:ext cx="438912" cy="43891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3" y="1581912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Embedding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2020824"/>
            <a:ext cx="19293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把文本/图片表示成向量，便于检索相似内容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141732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98863" y="1572768"/>
            <a:ext cx="438912" cy="43891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98863" y="164134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47503" y="1581912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Vector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020824"/>
            <a:ext cx="19293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向量数据库，用于相似度搜索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33756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2104" y="3493008"/>
            <a:ext cx="438912" cy="438912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0744" y="3502152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Fine-tuning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3941064"/>
            <a:ext cx="19293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用特定数据继续训练模型，让其适配任务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333756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621024" y="3493008"/>
            <a:ext cx="438912" cy="438912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2102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9663" y="3502152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Guardrail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5887" y="3941064"/>
            <a:ext cx="19293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安全护栏，限制不当输入输出和越权行为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33756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409944" y="3493008"/>
            <a:ext cx="438912" cy="438912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9944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8583" y="3502152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Benchmark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7" y="3941064"/>
            <a:ext cx="19293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评测基准，用一组测试题衡量能力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59" y="333756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198863" y="3493008"/>
            <a:ext cx="438912" cy="438912"/>
          </a:xfrm>
          <a:prstGeom prst="ellipse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98863" y="3561588"/>
            <a:ext cx="438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47503" y="3502152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33E"/>
                </a:solidFill>
                <a:latin typeface="Microsoft YaHei"/>
              </a:defRPr>
            </a:pPr>
            <a:r>
              <a:t>Hallucination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3941064"/>
            <a:ext cx="19293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 b="0">
                <a:solidFill>
                  <a:srgbClr val="667085"/>
                </a:solidFill>
                <a:latin typeface="Microsoft YaHei"/>
              </a:defRPr>
            </a:pPr>
            <a:r>
              <a:t>幻觉，模型生成不真实但看似合理的信息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YaHei UI"/>
              </a:defRPr>
            </a:pPr>
            <a:r>
              <a:t>23. 总结：AI是一项组织能力，不只是一个工具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AE4F6"/>
                </a:solidFill>
                <a:latin typeface="Microsoft YaHei"/>
              </a:defRPr>
            </a:pPr>
            <a:r>
              <a:t>真正的价值来自“场景 + 数据 + 工程 + 治理 + 人才”的组合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207008"/>
            <a:ext cx="960120" cy="73152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0000" indent="-150000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AI适合做辅助认知工作：总结、检索、生成、预测、推荐、自动化。</a:t>
            </a:r>
          </a:p>
          <a:p>
            <a:pPr marL="260000" indent="-150000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生成式AI让自然语言成为新的交互入口，但仍需要事实核验与责任边界。</a:t>
            </a:r>
          </a:p>
          <a:p>
            <a:pPr marL="260000" indent="-150000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企业落地要从高频、低风险、可衡量的场景开始，并建立持续评估。</a:t>
            </a:r>
          </a:p>
          <a:p>
            <a:pPr marL="260000" indent="-150000">
              <a:lnSpc>
                <a:spcPct val="108000"/>
              </a:lnSpc>
              <a:spcAft>
                <a:spcPts val="5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下一步：选择一个实际任务，设计Prompt模板、资料来源、输出标准和复核流程。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417320"/>
            <a:ext cx="4526280" cy="4434840"/>
          </a:xfrm>
          <a:prstGeom prst="roundRect">
            <a:avLst/>
          </a:prstGeom>
          <a:solidFill>
            <a:srgbClr val="19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8040" y="1737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CD4"/>
                </a:solidFill>
                <a:latin typeface="Microsoft YaHei"/>
              </a:defRPr>
            </a:pPr>
            <a:r>
              <a:t>参考资料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14884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FFFFF"/>
                </a:solidFill>
                <a:latin typeface="Microsoft YaHei"/>
              </a:defRPr>
            </a:pPr>
            <a:r>
              <a:t>• NIST CSRC Glossary: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587752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FFFFF"/>
                </a:solidFill>
                <a:latin typeface="Microsoft YaHei"/>
              </a:defRPr>
            </a:pPr>
            <a:r>
              <a:t>• IBM Think: What is Generative AI?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026664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FFFFF"/>
                </a:solidFill>
                <a:latin typeface="Microsoft YaHei"/>
              </a:defRPr>
            </a:pPr>
            <a:r>
              <a:t>• NIST AI Risk Management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465576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FFFFF"/>
                </a:solidFill>
                <a:latin typeface="Microsoft YaHei"/>
              </a:defRPr>
            </a:pPr>
            <a:r>
              <a:t>• Microsoft Responsible AI Standard / Principles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904487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FFFFF"/>
                </a:solidFill>
                <a:latin typeface="Microsoft YaHei"/>
              </a:defRPr>
            </a:pPr>
            <a:r>
              <a:t>• UNESCO Recommendation on the Ethics of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434340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FFFFFF"/>
                </a:solidFill>
                <a:latin typeface="Microsoft YaHei"/>
              </a:defRPr>
            </a:pPr>
            <a:r>
              <a:t>• Stanford HAI 2026 AI Index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BCD4"/>
                </a:solidFill>
                <a:latin typeface="Microsoft YaHei"/>
              </a:defRPr>
            </a:pPr>
            <a:r>
              <a:t>谢谢！欢迎交流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960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DD7E8"/>
                </a:solidFill>
                <a:latin typeface="Microsoft YaHei"/>
              </a:defRPr>
            </a:pPr>
            <a:r>
              <a:t>来源：NIST / IBM / Microsoft / UNESCO / Stanford HAI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DD7E8"/>
                </a:solidFill>
                <a:latin typeface="Microsoft YaHe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2191</Words>
  <Application>Microsoft Macintosh PowerPoint</Application>
  <PresentationFormat>宽屏</PresentationFormat>
  <Paragraphs>445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CHUN HUI YU (Harvey)</dc:creator>
  <cp:keywords/>
  <dc:description>generated using python-pptx</dc:description>
  <cp:lastModifiedBy>CHUN HUI YU (Harvey)</cp:lastModifiedBy>
  <cp:revision>4</cp:revision>
  <dcterms:created xsi:type="dcterms:W3CDTF">2026-06-30T08:39:55Z</dcterms:created>
  <dcterms:modified xsi:type="dcterms:W3CDTF">2026-06-30T09:19:11Z</dcterms:modified>
  <cp:category/>
</cp:coreProperties>
</file>